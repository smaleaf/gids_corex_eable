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10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1365" cy="10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800000"/>
            <a:ext cx="1119136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4546A"/>
                </a:solidFill>
                <a:latin typeface="微软雅黑"/>
              </a:rPr>
              <a:t>GIDS GPU Direct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700000"/>
            <a:ext cx="1119136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86C1"/>
                </a:solidFill>
                <a:latin typeface="微软雅黑"/>
              </a:rPr>
              <a:t>架构分析 · Corex 适配方案 · 后期工作规划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850000"/>
            <a:ext cx="111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A78"/>
                </a:solidFill>
                <a:latin typeface="微软雅黑"/>
              </a:rPr>
              <a:t>GPU-Initiated Direct Storage Accesses for GNN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3600000"/>
            <a:ext cx="2300000" cy="4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3630000"/>
            <a:ext cx="21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8"/>
                </a:solidFill>
                <a:latin typeface="微软雅黑"/>
              </a:rPr>
              <a:t>项目来源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3790000"/>
            <a:ext cx="215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ZaidQureshi/bam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00000" y="3600000"/>
            <a:ext cx="2300000" cy="4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0000" y="3630000"/>
            <a:ext cx="21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8"/>
                </a:solidFill>
                <a:latin typeface="微软雅黑"/>
              </a:rPr>
              <a:t>适配目标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0000" y="3790000"/>
            <a:ext cx="215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Iluvatar Corex 4.5.0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00000" y="3600000"/>
            <a:ext cx="2300000" cy="4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0000" y="3630000"/>
            <a:ext cx="21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8"/>
                </a:solidFill>
                <a:latin typeface="微软雅黑"/>
              </a:rPr>
              <a:t>当前状态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0000" y="3790000"/>
            <a:ext cx="215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核心代码移植完成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00000" y="3600000"/>
            <a:ext cx="2300000" cy="4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80000" y="3630000"/>
            <a:ext cx="215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A78"/>
                </a:solidFill>
                <a:latin typeface="微软雅黑"/>
              </a:rPr>
              <a:t>日期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0000" y="3790000"/>
            <a:ext cx="215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2026-06-12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4400000"/>
            <a:ext cx="111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A78"/>
                </a:solidFill>
                <a:latin typeface="微软雅黑"/>
              </a:rPr>
              <a:t>Iluvatar CoreX Platform  |  GNN Training Acceleration  |  GPU Direct Storage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0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200" y="68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200" y="68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GIDS 项目概述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200" y="106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核心思想、关键特性与系统定位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7200" y="60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7200" y="68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7200" y="68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系统架构总览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7200" y="106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四层架构分解：Python → pybind11 → C++/CUDA → BaM/Hardware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5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200" y="203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200" y="203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核心组件深度解析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200" y="241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BaM Framework、GPU Kernels、BAM_Feature_Store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7200" y="195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7200" y="203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7200" y="203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三大优化策略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7200" y="241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Window Buffering / Storage Accumulator / CPU Buffer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0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200" y="338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200" y="338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Corex 适配挑战分析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200" y="376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硬件差异、软件依赖、移植风险评估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7200" y="330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7200" y="338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7200" y="338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适配方案与当前进展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7200" y="376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cuFile 替代 BaM、IXFeatureStore 设计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5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200" y="473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7200" y="473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关键适配工作清单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200" y="511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DGL 编译、cooperative_groups 补丁、cuFile 集成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7200" y="4650000"/>
            <a:ext cx="5400000" cy="1200000"/>
          </a:xfrm>
          <a:prstGeom prst="rect">
            <a:avLst/>
          </a:prstGeom>
          <a:solidFill>
            <a:srgbClr val="F0F7FF"/>
          </a:solidFill>
          <a:ln w="1905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7200" y="473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1B9D6"/>
                </a:solidFill>
                <a:latin typeface="微软雅黑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7200" y="4730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4546A"/>
                </a:solidFill>
                <a:latin typeface="微软雅黑"/>
              </a:rPr>
              <a:t>后期工作流程与里程碑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7200" y="5110000"/>
            <a:ext cx="44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端到端验证路径、阶段目标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GIDS 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GPU-Initiated Direct Storage Accesses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GIDS 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GPU Direct Storage for GNN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00000"/>
            <a:ext cx="5000000" cy="5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680000"/>
            <a:ext cx="4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微软雅黑"/>
              </a:rPr>
              <a:t>核心思想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1000000"/>
            <a:ext cx="4700000" cy="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000" y="1050000"/>
            <a:ext cx="47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微软雅黑"/>
              </a:rPr>
              <a:t>GPU Direct Storage（GDS）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让 GPU kernel 直接从 NVMe SSD 读取图节点特征数据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E74C3C"/>
                </a:solidFill>
                <a:latin typeface="微软雅黑"/>
              </a:rPr>
              <a:t>传统痛点：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CPU 瓶颈 → 数据流水线成为 GNN 训练的主要瓶颈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PCIe 两次传输：SSD→RAM→GPU（带宽浪费）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CPU 内存容量限制（TB 级图特征无法全量缓存）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GIDS 解决方案：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绕过 CPU，GPU 直接访问 NVMe（P2P DMA）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三级缓存体系：GPU显存 + CPU pinned + NVMe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异步预取 + 批量合并，消除 SSD 访问延迟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0000" y="600000"/>
            <a:ext cx="5900000" cy="265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0000" y="680000"/>
            <a:ext cx="5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微软雅黑"/>
              </a:rPr>
              <a:t>关键特性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0000" y="1050000"/>
            <a:ext cx="56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GPU Direct Storage：GPU kernel 直接发起 NVMe 读请求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Window Buffering：预取窗口缓冲，隐藏 SSD 延迟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Storage Access Accumulator：批量合并 SSD 访问请求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CPU Feature Buffer：热数据缓存（Zero-copy 映射）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同构图 + 异构图双模式支持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多 SSD 条带化（Page-level Striping）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0000" y="3400000"/>
            <a:ext cx="5900000" cy="2800000"/>
          </a:xfrm>
          <a:prstGeom prst="rect">
            <a:avLst/>
          </a:prstGeom>
          <a:solidFill>
            <a:srgbClr val="FFF5E6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50000" y="3480000"/>
            <a:ext cx="5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500"/>
                </a:solidFill>
                <a:latin typeface="微软雅黑"/>
              </a:rPr>
              <a:t>性能背景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0000" y="3850000"/>
            <a:ext cx="5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大规模 GNN 数据集规模：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IGB-Full: 547M 节点，1024维特征，~2TB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OGB-Papers100M: 100M 节点，128维特征，~50GB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MAG240M: 240M 节点，768维特征，~180GB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GIDS 相比 mmap 基线：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数据加载吞吐量提升 2~5x（取决于 SSD 条数）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端到端训练时间缩短 40~60%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系统架构总览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Four-Layer Architecture: Python → pybind11 → C++/CUDA →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系统架构总览 — 四层分解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GIDS System Architecture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00000" y="600000"/>
            <a:ext cx="11591365" cy="92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" y="70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  <a:latin typeface="微软雅黑"/>
              </a:rPr>
              <a:t>Layer 4  Python 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08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GIDS.py / GIDS_DGLDataLoader / 训练脚本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5682" y="1510000"/>
            <a:ext cx="300000" cy="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1B9D6"/>
                </a:solidFill>
                <a:latin typeface="微软雅黑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000" y="1570000"/>
            <a:ext cx="11591365" cy="920000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000" y="167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/>
              </a:rPr>
              <a:t>Layer 3  pybind11 绑定层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205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BAM_Feature_Store.so (C++/CUDA → Python 桥接)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5682" y="2480000"/>
            <a:ext cx="300000" cy="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1B9D6"/>
                </a:solidFill>
                <a:latin typeface="微软雅黑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000" y="2540000"/>
            <a:ext cx="11591365" cy="920000"/>
          </a:xfrm>
          <a:prstGeom prst="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" y="264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  <a:latin typeface="微软雅黑"/>
              </a:rPr>
              <a:t>Layer 2  CUDA/C++ 核心层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" y="302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gids_kernel.cu (GPU Kernels) + gids_nvme.cu (Host 管理逻辑)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5682" y="3450000"/>
            <a:ext cx="300000" cy="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1B9D6"/>
                </a:solidFill>
                <a:latin typeface="微软雅黑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000" y="3510000"/>
            <a:ext cx="11591365" cy="920000"/>
          </a:xfrm>
          <a:prstGeom prst="rect">
            <a:avLst/>
          </a:prstGeom>
          <a:solidFill>
            <a:srgbClr val="F9EBE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361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微软雅黑"/>
              </a:rPr>
              <a:t>Layer 1  BaM 框架层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" y="399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libnvm.so: Controller / page_cache_t / bam_ptr&lt;T&gt; / NVMe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5682" y="4420000"/>
            <a:ext cx="300000" cy="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1B9D6"/>
                </a:solidFill>
                <a:latin typeface="微软雅黑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0000" y="4480000"/>
            <a:ext cx="11591365" cy="920000"/>
          </a:xfrm>
          <a:prstGeom prst="rect">
            <a:avLst/>
          </a:prstGeom>
          <a:solidFill>
            <a:srgbClr val="1A3A5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000" y="4580000"/>
            <a:ext cx="9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1B9D6"/>
                </a:solidFill>
                <a:latin typeface="微软雅黑"/>
              </a:rPr>
              <a:t>Layer 0  硬件层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000" y="4960000"/>
            <a:ext cx="9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7EA"/>
                </a:solidFill>
                <a:latin typeface="微软雅黑"/>
              </a:rPr>
              <a:t>NVIDIA GPU (CUDA)  ←PCIe P2P→  NVMe SSD (/dev/libnvmX)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核心组件深度解析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BaM Framework / GPU Kernels / BAM_Feature_Store / Python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核心组件 ① — BaM 框架层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GPU-Initiated NVMe Access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微软雅黑"/>
              </a:rPr>
              <a:t>BaM (Block address Map) 核心抽象组件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0000"/>
            <a:ext cx="1370000" cy="38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1130000"/>
            <a:ext cx="12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组件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7200" y="1050000"/>
            <a:ext cx="1570000" cy="38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7200" y="1130000"/>
            <a:ext cx="14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7200" y="1050000"/>
            <a:ext cx="4370000" cy="38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7200" y="1130000"/>
            <a:ext cx="42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核心作用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57200" y="1050000"/>
            <a:ext cx="2470000" cy="38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7200" y="1130000"/>
            <a:ext cx="23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在 GIDS 中的角色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30000"/>
            <a:ext cx="13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200" y="1510000"/>
            <a:ext cx="1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7200" y="1430000"/>
            <a:ext cx="15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17200" y="1510000"/>
            <a:ext cx="14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Host C++ 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7200" y="1430000"/>
            <a:ext cx="43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7200" y="1510000"/>
            <a:ext cx="4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管理一个 NVMe 设备，提供命令提交队列（SQ/CQ）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57200" y="1430000"/>
            <a:ext cx="24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7200" y="1510000"/>
            <a:ext cx="23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每个 SSD 对应一个实例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050000"/>
            <a:ext cx="13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200" y="2130000"/>
            <a:ext cx="1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page_cache_t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7200" y="2050000"/>
            <a:ext cx="15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17200" y="2130000"/>
            <a:ext cx="14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CUDA 设备/Host 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7200" y="2050000"/>
            <a:ext cx="43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17200" y="2130000"/>
            <a:ext cx="4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端 DRAM 页缓存，LRU 淘汰策略，管理页的分配/淘汰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57200" y="2050000"/>
            <a:ext cx="24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7200" y="2130000"/>
            <a:ext cx="23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显存作为热数据二级缓存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670000"/>
            <a:ext cx="13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200" y="2750000"/>
            <a:ext cx="1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range_t&lt;T&gt;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57200" y="2670000"/>
            <a:ext cx="15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17200" y="2750000"/>
            <a:ext cx="14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设备端模板类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7200" y="2670000"/>
            <a:ext cx="43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17200" y="2750000"/>
            <a:ext cx="4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定义一段数据的逻辑地址→物理页映射（STRIPE/REPLICATE 分布）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57200" y="2670000"/>
            <a:ext cx="24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17200" y="2750000"/>
            <a:ext cx="23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节点特征数据的地址空间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290000"/>
            <a:ext cx="13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200" y="3370000"/>
            <a:ext cx="1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array_t&lt;T&gt;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57200" y="3290000"/>
            <a:ext cx="15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17200" y="3370000"/>
            <a:ext cx="14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设备端模板类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57200" y="3290000"/>
            <a:ext cx="43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7200" y="3370000"/>
            <a:ext cx="4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可包含多个 range，支持多 SSD 条带化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57200" y="3290000"/>
            <a:ext cx="24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7200" y="3370000"/>
            <a:ext cx="23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多盘特征数据的统一视图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910000"/>
            <a:ext cx="13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200" y="3990000"/>
            <a:ext cx="1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bam_ptr&lt;T&gt;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57200" y="3910000"/>
            <a:ext cx="15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17200" y="3990000"/>
            <a:ext cx="14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智能指针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7200" y="3910000"/>
            <a:ext cx="43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17200" y="3990000"/>
            <a:ext cx="4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operator[] 透明处理 page fault：miss→提交 NVMe 命令→等待 DMA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57200" y="3910000"/>
            <a:ext cx="2470000" cy="6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17200" y="3990000"/>
            <a:ext cx="23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kernel 内直接访问 SSD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530000"/>
            <a:ext cx="13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7200" y="4610000"/>
            <a:ext cx="1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nvm_parallel_queue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57200" y="4530000"/>
            <a:ext cx="15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17200" y="4610000"/>
            <a:ext cx="14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CUDA 设备类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57200" y="4530000"/>
            <a:ext cx="43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17200" y="4610000"/>
            <a:ext cx="42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kernel 内部 NVMe 命令队列，无需 CPU 介入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57200" y="4530000"/>
            <a:ext cx="247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17200" y="4610000"/>
            <a:ext cx="238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异步 NVMe I/O 提交/完成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核心组件 ② — GPU Kernel 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gids_kernel.cu 四种核心 Kernel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00000"/>
            <a:ext cx="2752841" cy="8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80000"/>
            <a:ext cx="2752841" cy="53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730000"/>
            <a:ext cx="2632841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read_feature_kernel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0" y="1080000"/>
            <a:ext cx="2632841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546A"/>
                </a:solidFill>
                <a:latin typeface="微软雅黑"/>
              </a:rPr>
              <a:t>特征读取主核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7200" y="1380000"/>
            <a:ext cx="2632841" cy="3"/>
          </a:xfrm>
          <a:prstGeom prst="rect">
            <a:avLst/>
          </a:prstGeom>
          <a:solidFill>
            <a:srgbClr val="D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200" y="1430000"/>
            <a:ext cx="2632841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输入：node IDs 数组 + bam_ptr&lt;T&gt; 引用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输出：特征矩阵到 GPU output buffer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实现：每线程读取一行特征向量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关键：bam_ptr operator[] 触发 page fault 路径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5041" y="600000"/>
            <a:ext cx="2752841" cy="8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5041" y="680000"/>
            <a:ext cx="2752841" cy="53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5041" y="730000"/>
            <a:ext cx="2632841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cpu_buffer_kernel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5041" y="1080000"/>
            <a:ext cx="2632841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546A"/>
                </a:solidFill>
                <a:latin typeface="微软雅黑"/>
              </a:rPr>
              <a:t>CPU 热数据分流核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5041" y="1380000"/>
            <a:ext cx="2632841" cy="3"/>
          </a:xfrm>
          <a:prstGeom prst="rect">
            <a:avLst/>
          </a:prstGeom>
          <a:solidFill>
            <a:srgbClr val="D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5041" y="1430000"/>
            <a:ext cx="2632841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检查 row_index &lt; cpu_buffer_len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热数据：从 CPU pinned buffer 读取（PCIe）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冷数据：从 SSD 读取（bam_ptr GPU Direct）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Zero-copy：cudaHostAllocMapped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2882" y="600000"/>
            <a:ext cx="2752841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2882" y="680000"/>
            <a:ext cx="2752841" cy="53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2882" y="730000"/>
            <a:ext cx="2632841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微软雅黑"/>
              </a:rPr>
              <a:t>window_buffer_kernel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2882" y="1080000"/>
            <a:ext cx="2632841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546A"/>
                </a:solidFill>
                <a:latin typeface="微软雅黑"/>
              </a:rPr>
              <a:t>预取窗口核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2882" y="1380000"/>
            <a:ext cx="2632841" cy="3"/>
          </a:xfrm>
          <a:prstGeom prst="rect">
            <a:avLst/>
          </a:prstGeom>
          <a:solidFill>
            <a:srgbClr val="D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2882" y="1430000"/>
            <a:ext cx="2632841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提前通知 BaM 页缓存即将访问的页面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调用 bam_ptr.set_window_buffer_counter()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增加目标页的预取优先级计数器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在下一 batch 训练时数据已预热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0723" y="600000"/>
            <a:ext cx="2752841" cy="8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0723" y="680000"/>
            <a:ext cx="2752841" cy="53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0723" y="730000"/>
            <a:ext cx="2632841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微软雅黑"/>
              </a:rPr>
              <a:t>write_kernel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0723" y="1080000"/>
            <a:ext cx="2632841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546A"/>
                </a:solidFill>
                <a:latin typeface="微软雅黑"/>
              </a:rPr>
              <a:t>特征写入核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0723" y="1380000"/>
            <a:ext cx="2632841" cy="3"/>
          </a:xfrm>
          <a:prstGeom prst="rect">
            <a:avLst/>
          </a:prstGeom>
          <a:solidFill>
            <a:srgbClr val="D5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0723" y="1430000"/>
            <a:ext cx="2632841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将 GPU 内存中的 tensor 写回 SSD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通过 bam_ptr operator[] 触发写操作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用于 tensor_write.py 数据准备阶段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支持多 SSD 条带化写入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50000"/>
            <a:ext cx="11276965" cy="350000"/>
          </a:xfrm>
          <a:prstGeom prst="rect">
            <a:avLst/>
          </a:prstGeom>
          <a:solidFill>
            <a:srgbClr val="FFF5E6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000" y="620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6008"/>
                </a:solidFill>
                <a:latin typeface="微软雅黑"/>
              </a:rPr>
              <a:t>⚠️  Corex 适配重点：&lt;&lt;&lt;&gt;&gt;&gt; kernel launch 语法需替换为 ixLaunchKernel()；bam_ptr 整体替换为 cuFile/IXFeatureStore 方案；cooperative_groups 依赖需补丁支持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核心组件 ③ — BAM_Feature_Store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C++/CUDA 核心存储管理类（Host 端）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00000"/>
            <a:ext cx="5200000" cy="57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68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BAM_Feature_Store&lt;TYPE&gt; 类成员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05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Consolas"/>
              </a:rPr>
              <a:t>// BaM 核心对象</a:t>
            </a:r>
          </a:p>
          <a:p>
            <a:pPr algn="l"/>
            <a:r>
              <a:rPr sz="1100" b="0">
                <a:solidFill>
                  <a:srgbClr val="2E86C1"/>
                </a:solidFill>
                <a:latin typeface="Consolas"/>
              </a:rPr>
              <a:t>page_cache_t *h_pc;       // Host 端页缓存句柄</a:t>
            </a:r>
          </a:p>
          <a:p>
            <a:pPr algn="l"/>
            <a:r>
              <a:rPr sz="1100" b="0">
                <a:solidFill>
                  <a:srgbClr val="2E86C1"/>
                </a:solidFill>
                <a:latin typeface="Consolas"/>
              </a:rPr>
              <a:t>range_t&lt;TYPE&gt; *h_range;   // 数据范围映射</a:t>
            </a:r>
          </a:p>
          <a:p>
            <a:pPr algn="l"/>
            <a:r>
              <a:rPr sz="1100" b="0">
                <a:solidFill>
                  <a:srgbClr val="2E86C1"/>
                </a:solidFill>
                <a:latin typeface="Consolas"/>
              </a:rPr>
              <a:t>array_t&lt;TYPE&gt; *a;         // GPU 端数组引用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95A5A6"/>
                </a:solidFill>
                <a:latin typeface="Consolas"/>
              </a:rPr>
              <a:t>// CPU 缓冲优化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Consolas"/>
              </a:rPr>
              <a:t>GIDS_CPU_buffer&lt;TYPE&gt; CPU_buffer;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bool cpu_buffer_flag;     // 是否启用 CPU 缓冲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bool seq_flag;            // 顺序/哈希模式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95A5A6"/>
                </a:solidFill>
                <a:latin typeface="Consolas"/>
              </a:rPr>
              <a:t>// 控制参数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uint32_t pageSize;        // 页大小 (默认 4096B)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uint64_t numElems;        // 数据集总元素数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uint32_t n_ctrls;         // SSD 数量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95A5A6"/>
                </a:solidFill>
                <a:latin typeface="Consolas"/>
              </a:rPr>
              <a:t>// 核心方法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init_controllers(…); // 初始化 NVMe + 页缓存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read_feature(…);     // 同构图特征读取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read_feature_hetero(…); // 异构图多流并发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read_feature_merged(…); // 批量合并读取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cpu_backing_buffer(…);  // 分配 CPU Pinned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set_cpu_buffer(…);      // 热节点预加载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set_window_buffering(…);// 窗口预取</a:t>
            </a:r>
          </a:p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void store_tensor(…);         // 写回 SSD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0000" y="600000"/>
            <a:ext cx="5800000" cy="27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0000" y="680000"/>
            <a:ext cx="5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pybind11 Python 绑定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0000" y="1050000"/>
            <a:ext cx="55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546A"/>
                </a:solidFill>
                <a:latin typeface="Consolas"/>
              </a:rPr>
              <a:t>gids_nvme.cu 通过 pybind11 暴露：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• BAM_Feature_Store_float  — float32 特征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• BAM_Feature_Store_half   — float16 特征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• BAM_Feature_Store_long   — int64 节点 ID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• GIDS_Controllers         — 控制器管理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/>
            </a:r>
          </a:p>
          <a:p>
            <a:pPr algn="l"/>
            <a:r>
              <a:rPr sz="1200" b="1">
                <a:solidFill>
                  <a:srgbClr val="27AE60"/>
                </a:solidFill>
                <a:latin typeface="Consolas"/>
              </a:rPr>
              <a:t>编译输出：BAM_Feature_Store.so</a:t>
            </a:r>
          </a:p>
          <a:p>
            <a:pPr algn="l"/>
            <a:r>
              <a:rPr sz="1200" b="1">
                <a:solidFill>
                  <a:srgbClr val="44546A"/>
                </a:solidFill>
                <a:latin typeface="Consolas"/>
              </a:rPr>
              <a:t>Python 侧 import：</a:t>
            </a:r>
          </a:p>
          <a:p>
            <a:pPr algn="l"/>
            <a:r>
              <a:rPr sz="1100" b="0">
                <a:solidFill>
                  <a:srgbClr val="2E86C1"/>
                </a:solidFill>
                <a:latin typeface="Consolas"/>
              </a:rPr>
              <a:t>  import BAM_Feature_Store as BFS</a:t>
            </a:r>
          </a:p>
          <a:p>
            <a:pPr algn="l"/>
            <a:r>
              <a:rPr sz="1100" b="0">
                <a:solidFill>
                  <a:srgbClr val="2E86C1"/>
                </a:solidFill>
                <a:latin typeface="Consolas"/>
              </a:rPr>
              <a:t>  fs = BFS.BAM_Feature_Store_float()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0000" y="3450000"/>
            <a:ext cx="5800000" cy="2850000"/>
          </a:xfrm>
          <a:prstGeom prst="rect">
            <a:avLst/>
          </a:prstGeom>
          <a:solidFill>
            <a:srgbClr val="F9EBE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0000" y="3530000"/>
            <a:ext cx="5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微软雅黑"/>
              </a:rPr>
              <a:t>Corex 适配要点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0000" y="3900000"/>
            <a:ext cx="5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微软雅黑"/>
              </a:rPr>
              <a:t>原版依赖（需替换）: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bam_ptr&lt;T&gt; + page_cache_t + libnvm.so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/dev/libnvmX 裸 NVMe 字符设备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BaM 专有 page fault 机制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200" b="1">
                <a:solidFill>
                  <a:srgbClr val="27AE60"/>
                </a:solidFill>
                <a:latin typeface="微软雅黑"/>
              </a:rPr>
              <a:t>适配方案（IXFeatureStore）: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cuFileRead/Write 替代 bam_ptr.read()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普通文件替代裸 NVMe 设备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OS page cache 替代 GPU 端 page_cache_t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• 保留 CPU buffer / window buffer 策略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数据流分析 — 训练循环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Training Loop 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00000"/>
            <a:ext cx="2100000" cy="40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700000"/>
            <a:ext cx="2100000" cy="2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200" y="720000"/>
            <a:ext cx="19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00" y="1040000"/>
            <a:ext cx="19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/>
              </a:rPr>
              <a:t>DGL 采样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200" y="1500000"/>
            <a:ext cx="194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A78"/>
                </a:solidFill>
                <a:latin typeface="微软雅黑"/>
              </a:rPr>
              <a:t>MultiLayerNeighborSampler
从大图 G 中采样子图 blocks
输出：input_nodes (GPU tensor)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7200" y="16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1B9D6"/>
                </a:solidFill>
                <a:latin typeface="微软雅黑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0000" y="700000"/>
            <a:ext cx="2100000" cy="40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0000" y="700000"/>
            <a:ext cx="2100000" cy="2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0000" y="720000"/>
            <a:ext cx="19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0000" y="1040000"/>
            <a:ext cx="19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/>
              </a:rPr>
              <a:t>GIDS 特征读取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0000" y="1500000"/>
            <a:ext cx="194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A78"/>
                </a:solidFill>
                <a:latin typeface="微软雅黑"/>
              </a:rPr>
              <a:t>GIDS.fetch_feature(dim, it, device)
→ BAM_FS.read_feature()
→ GPU Kernel 访问 bam_ptr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0000" y="16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1B9D6"/>
                </a:solidFill>
                <a:latin typeface="微软雅黑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0" y="700000"/>
            <a:ext cx="2100000" cy="40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0000" y="700000"/>
            <a:ext cx="2100000" cy="2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0000" y="720000"/>
            <a:ext cx="19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0" y="1040000"/>
            <a:ext cx="19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/>
              </a:rPr>
              <a:t>BaM 页缓存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0" y="1500000"/>
            <a:ext cx="194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A78"/>
                </a:solidFill>
                <a:latin typeface="微软雅黑"/>
              </a:rPr>
              <a:t>page_cache_t 查询
Cache Hit：直接从 GPU 显存返回
Cache Miss：提交 NVMe 命令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0000" y="16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1B9D6"/>
                </a:solidFill>
                <a:latin typeface="微软雅黑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0000" y="700000"/>
            <a:ext cx="2100000" cy="40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00000" y="700000"/>
            <a:ext cx="2100000" cy="2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0000" y="720000"/>
            <a:ext cx="19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1040000"/>
            <a:ext cx="19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/>
              </a:rPr>
              <a:t>NVMe DMA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0000" y="1500000"/>
            <a:ext cx="194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A78"/>
                </a:solidFill>
                <a:latin typeface="微软雅黑"/>
              </a:rPr>
              <a:t>GPU 直接发起 NVMe 命令
通过 PCIe P2P DMA
数据从 SSD 写入 GPU 显存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0000" y="16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1B9D6"/>
                </a:solidFill>
                <a:latin typeface="微软雅黑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0000" y="700000"/>
            <a:ext cx="2100000" cy="40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0000" y="700000"/>
            <a:ext cx="2100000" cy="2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80000" y="720000"/>
            <a:ext cx="194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0000" y="1040000"/>
            <a:ext cx="19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6C1"/>
                </a:solidFill>
                <a:latin typeface="微软雅黑"/>
              </a:rPr>
              <a:t>GNN 训练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0000" y="1500000"/>
            <a:ext cx="194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06A78"/>
                </a:solidFill>
                <a:latin typeface="微软雅黑"/>
              </a:rPr>
              <a:t>SAGEConv / GCN / GAT
使用特征 tensor 前向传播
反向传播更新参数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00000"/>
            <a:ext cx="11276965" cy="1500000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000" y="508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/>
              </a:rPr>
              <a:t>CUDA Stream 并行化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00" y="5380000"/>
            <a:ext cx="109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46A"/>
                </a:solidFill>
                <a:latin typeface="Consolas"/>
              </a:rPr>
              <a:t>Stream[0]: [GNN Forward+Backward]  [GNN Forward+Backward]  [GNN Forward+Backward]  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000" y="5710000"/>
            <a:ext cx="109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A500"/>
                </a:solidFill>
                <a:latin typeface="Consolas"/>
              </a:rPr>
              <a:t>Stream[1]: [Window Prefetch]        [Window Prefetch]        [Window Prefetch]        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000" y="6040000"/>
            <a:ext cx="1099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86C1"/>
                </a:solidFill>
                <a:latin typeface="Consolas"/>
              </a:rPr>
              <a:t>Stream[2]: [Feature Read (cuFile)]  [Feature Read (cuFile)]  [Feature Read (cuFile)] 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三大优化策略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Window Buffering / Storage Access Accumulator / CPU Feature Buffer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三大优化策略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Three Core Optimization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0000"/>
            <a:ext cx="11276965" cy="17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80000"/>
            <a:ext cx="350000" cy="170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760000"/>
            <a:ext cx="4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01  Window Buffering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12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问题：GPU kernel 访问 SSD 时，page fault 导致高延迟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0" y="760000"/>
            <a:ext cx="650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在处理当前 batch N 时，提前通知 BaM 缓存 batch N+1 的页面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GPU kernel：set_window_buffer_counter() 增加目标页预取计数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Stream[1] 异步执行，不阻塞 Stream[0] 训练流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效果：将 SSD 延迟隐藏在计算时间内，接近零延迟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91365" y="880000"/>
            <a:ext cx="110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1365" y="930000"/>
            <a:ext cx="10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延迟隐藏 / 流水线重叠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0000"/>
            <a:ext cx="11276965" cy="17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0000"/>
            <a:ext cx="350000" cy="17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2590000"/>
            <a:ext cx="4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微软雅黑"/>
              </a:rPr>
              <a:t>02  Storage Access Accumulator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295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问题：小批量下每次 SSD 访问都有固定延迟开销（效率低）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000" y="2590000"/>
            <a:ext cx="650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根据 SSD 带宽/延迟计算最优合并数量 N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累积 N 个 batch 的节点 ID 后，一次性合并提交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调用 read_feature_merged()，单次 DMA 传输完成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效果：NVMe 命令数减少 N 倍，提升带宽利用率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91365" y="2710000"/>
            <a:ext cx="1100000" cy="35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11365" y="2760000"/>
            <a:ext cx="10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批量合并 / 减少 I/O 次数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40000"/>
            <a:ext cx="11276965" cy="17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40000"/>
            <a:ext cx="350000" cy="170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4420000"/>
            <a:ext cx="4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500"/>
                </a:solidFill>
                <a:latin typeface="微软雅黑"/>
              </a:rPr>
              <a:t>03  CPU Feature Buffer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478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问题：高频访问节点（热数据）每次都从 SSD 读取，浪费带宽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0000" y="4420000"/>
            <a:ext cx="650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PageRank 算法识别 Top-K 高度数热节点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cudaHostAllocMapped 分配 CPU Pinned Memory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cudaHostGetDevicePointer 获取 GPU 侧虚拟地址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kernel 内检查 row_index &lt; cpu_len 分流：热→CPU，冷→SSD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91365" y="4540000"/>
            <a:ext cx="1100000" cy="35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11365" y="4590000"/>
            <a:ext cx="10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Zero-copy 热数据 / 减少 SSD 访问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Corex 适配挑战分析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Hardware Differences / Software Dependencies / Migration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Corex 适配核心挑战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Key Adaptation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NVIDIA 原版 vs Iluvatar Corex 关键差异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30000"/>
            <a:ext cx="21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1100000"/>
            <a:ext cx="20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7200" y="1030000"/>
            <a:ext cx="34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7200" y="1100000"/>
            <a:ext cx="33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NVIDIA 原版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7200" y="1030000"/>
            <a:ext cx="34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200" y="1100000"/>
            <a:ext cx="33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Corex 适配版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57200" y="1030000"/>
            <a:ext cx="14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7200" y="1100000"/>
            <a:ext cx="13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380000"/>
            <a:ext cx="21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200" y="14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GPU 运行时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7200" y="13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7200" y="14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CUDA Runtime / Driver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7200" y="13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200" y="14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IX Runtime + CUDA 兼容映射层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57200" y="1380000"/>
            <a:ext cx="1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17200" y="1480000"/>
            <a:ext cx="1320000" cy="35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7200" y="15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已兼容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980000"/>
            <a:ext cx="21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200" y="20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编译器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7200" y="19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7200" y="20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nvcc (NVIDIA CUDA Compiler)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7200" y="19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200" y="20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ixc (Iluvatar CUDA Compiler)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57200" y="1980000"/>
            <a:ext cx="1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17200" y="2080000"/>
            <a:ext cx="1320000" cy="35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7200" y="21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需修改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580000"/>
            <a:ext cx="21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7200" y="26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GDS 用户态库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7200" y="25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17200" y="26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libcufile.so (NVIDIA GDS)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7200" y="25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200" y="26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Corex libcufile.so (兼容 API)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57200" y="2580000"/>
            <a:ext cx="1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17200" y="2680000"/>
            <a:ext cx="1320000" cy="35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7200" y="27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已兼容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80000"/>
            <a:ext cx="21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200" y="32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GDS 内核驱动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7200" y="31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17200" y="32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nvidia-fs.ko / /dev/nvidia-fs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7200" y="31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200" y="32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itrfs.ko / /dev/itrfs ✅ 已加载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57200" y="3180000"/>
            <a:ext cx="1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17200" y="3280000"/>
            <a:ext cx="1320000" cy="35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7200" y="33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已验证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780000"/>
            <a:ext cx="21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200" y="38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存储设备访问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7200" y="37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17200" y="38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BaM: /dev/libnvmX (裸 NVMe)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57200" y="37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200" y="38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IXFeatureStore + cuFile + 普通文件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57200" y="3780000"/>
            <a:ext cx="1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17200" y="3880000"/>
            <a:ext cx="1320000" cy="35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37200" y="39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方案确定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380000"/>
            <a:ext cx="21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7200" y="44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Kernel Launch 语法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57200" y="43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17200" y="44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&lt;&lt;&lt;grid, block&gt;&gt;&gt; 语法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57200" y="43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200" y="44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ixLaunchKernel() API 调用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57200" y="4380000"/>
            <a:ext cx="1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17200" y="4480000"/>
            <a:ext cx="1320000" cy="35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37200" y="45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需适配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980000"/>
            <a:ext cx="21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7200" y="50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PyTorch 设备名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57200" y="49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17200" y="50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cuda:0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7200" y="4980000"/>
            <a:ext cx="3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200" y="50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cuda:0 ✅ (不使用 ix:0)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57200" y="4980000"/>
            <a:ext cx="1480000" cy="585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17200" y="5080000"/>
            <a:ext cx="1320000" cy="35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37200" y="51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已兼容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580000"/>
            <a:ext cx="21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7200" y="5660000"/>
            <a:ext cx="20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微软雅黑"/>
              </a:rPr>
              <a:t>DGL 支持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57200" y="55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17200" y="56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pip install dgl (CUDA 版)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57200" y="5580000"/>
            <a:ext cx="3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200" y="5660000"/>
            <a:ext cx="33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需源码编译 Corex CUDA 版 DGL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57200" y="5580000"/>
            <a:ext cx="1480000" cy="58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17200" y="5680000"/>
            <a:ext cx="1320000" cy="35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37200" y="5730000"/>
            <a:ext cx="13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进行中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适配方案与当前进展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cuFile Replaces BaM / IXFeatureStore Design / Current Status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适配方案选型对比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Solution Architecture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三种方案权衡分析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0000"/>
            <a:ext cx="3750000" cy="5300000"/>
          </a:xfrm>
          <a:prstGeom prst="rect">
            <a:avLst/>
          </a:prstGeom>
          <a:solidFill>
            <a:srgbClr val="F0F7FF"/>
          </a:solidFill>
          <a:ln w="381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00000"/>
            <a:ext cx="3750000" cy="3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200" y="1040000"/>
            <a:ext cx="3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方案 A ★ 当前采用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200" y="1430000"/>
            <a:ext cx="3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1B9D6"/>
                </a:solidFill>
                <a:latin typeface="微软雅黑"/>
              </a:rPr>
              <a:t>cuFile 替代 BaM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200" y="178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实现方式：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00" y="2040000"/>
            <a:ext cx="359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用 IXFeatureStore + cuFileRead/Write 读写普通文件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依赖 Corex 官方 GDS 栈（itrfs.ko + libcufile.so）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Python 接口保持不变（GIDS_IX.py 替代 GIDS.py）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存储从裸设备改为普通文件路径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00" y="329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微软雅黑"/>
              </a:rPr>
              <a:t>优点：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00" y="3550000"/>
            <a:ext cx="359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工作量小，稳定可调试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依赖 Corex 官方 GDS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OS page cache 透明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快速验证端到端路径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200" y="440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微软雅黑"/>
              </a:rPr>
              <a:t>缺点：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00" y="4660000"/>
            <a:ext cx="359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无 GPU kernel 内透明 page fault</a:t>
            </a:r>
          </a:p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bam_ptr 语义改变</a:t>
            </a:r>
          </a:p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理论延迟略高于 BaM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200" y="5550000"/>
            <a:ext cx="3590000" cy="5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200" y="5630000"/>
            <a:ext cx="359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✅ 当前采用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7200" y="1000000"/>
            <a:ext cx="3750000" cy="5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7200" y="1000000"/>
            <a:ext cx="3750000" cy="38000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7200" y="1040000"/>
            <a:ext cx="3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方案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7200" y="1430000"/>
            <a:ext cx="3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5A5A6"/>
                </a:solidFill>
                <a:latin typeface="微软雅黑"/>
              </a:rPr>
              <a:t>BaM 完整移植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7200" y="178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实现方式：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7200" y="2040000"/>
            <a:ext cx="359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移植 BaM 裸 NVMe、GPU page cache、NVMe SQ/CQ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实现 /dev/libnvmX 等价的 Corex 字符设备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移植 page_cache_t GPU 端页缓存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保留 bam_ptr&lt;T&gt; 透明 page fault 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7200" y="329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微软雅黑"/>
              </a:rPr>
              <a:t>优点：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7200" y="3550000"/>
            <a:ext cx="359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理论延迟最低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保留原论文路径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GPU kernel 透明访问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7200" y="440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微软雅黑"/>
              </a:rPr>
              <a:t>缺点：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7200" y="4660000"/>
            <a:ext cx="359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工作量大（&gt;3 个月）</a:t>
            </a:r>
          </a:p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硬件依赖多（MMIO/P2P）</a:t>
            </a:r>
          </a:p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调试验证困难</a:t>
            </a:r>
          </a:p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风险高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7200" y="5550000"/>
            <a:ext cx="3590000" cy="58000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7200" y="5630000"/>
            <a:ext cx="359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⏸ 暂不采用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200" y="1000000"/>
            <a:ext cx="3750000" cy="5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57200" y="1000000"/>
            <a:ext cx="3750000" cy="38000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7200" y="1040000"/>
            <a:ext cx="3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方案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7200" y="1430000"/>
            <a:ext cx="3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DC3C7"/>
                </a:solidFill>
                <a:latin typeface="微软雅黑"/>
              </a:rPr>
              <a:t>POSIX 降级模式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7200" y="178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实现方式：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7200" y="2040000"/>
            <a:ext cx="359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cuFileRead 失败时自动降级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使用 pread/pwrite + CPU pinned buffer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ixMemcpy H2D 传输到 GPU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• 作为 cuFile GDS 路径的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7200" y="329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微软雅黑"/>
              </a:rPr>
              <a:t>优点：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7200" y="3550000"/>
            <a:ext cx="359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兼容性最强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无需内核驱动</a:t>
            </a:r>
          </a:p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  ✓ 调试方便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7200" y="4400000"/>
            <a:ext cx="35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微软雅黑"/>
              </a:rPr>
              <a:t>缺点：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7200" y="4660000"/>
            <a:ext cx="359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吞吐量低（2~3x 差距）</a:t>
            </a:r>
          </a:p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CPU 再次成为瓶颈</a:t>
            </a:r>
          </a:p>
          <a:p>
            <a:pPr algn="l"/>
            <a:r>
              <a:rPr sz="1100" b="0">
                <a:solidFill>
                  <a:srgbClr val="E74C3C"/>
                </a:solidFill>
                <a:latin typeface="微软雅黑"/>
              </a:rPr>
              <a:t>  ✗ 不适合生产环境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7200" y="5550000"/>
            <a:ext cx="3590000" cy="58000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7200" y="5630000"/>
            <a:ext cx="359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🔄 作为 Fallback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适配后架构 — IXFeatureStore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Adapted Architecture: GIDS-IX on Corex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00000" y="650000"/>
            <a:ext cx="4200000" cy="5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00000"/>
            <a:ext cx="4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5A5A6"/>
                </a:solidFill>
                <a:latin typeface="微软雅黑"/>
              </a:rPr>
              <a:t>原架构 (NVIDIA + BaM)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100000"/>
            <a:ext cx="3900000" cy="6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微软雅黑"/>
              </a:rPr>
              <a:t>GIDS.py + GIDS_DGLDataLoader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000" y="1880000"/>
            <a:ext cx="3900000" cy="6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198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微软雅黑"/>
              </a:rPr>
              <a:t>BAM_Feature_Store.so (pybind11)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" y="2660000"/>
            <a:ext cx="3900000" cy="6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276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微软雅黑"/>
              </a:rPr>
              <a:t>gids_kernel.cu (GPU Kernels)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3440000"/>
            <a:ext cx="3900000" cy="6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354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微软雅黑"/>
              </a:rPr>
              <a:t>BaM: bam_ptr + page_cache_t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0000" y="4220000"/>
            <a:ext cx="3900000" cy="6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432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微软雅黑"/>
              </a:rPr>
              <a:t>/dev/libnvmX (裸 NVMe 设备)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" y="5000000"/>
            <a:ext cx="3900000" cy="6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510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微软雅黑"/>
              </a:rPr>
              <a:t>NVIDIA GPU + NVMe SSD (P2P)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000" y="3200000"/>
            <a:ext cx="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1B9D6"/>
                </a:solidFill>
                <a:latin typeface="微软雅黑"/>
              </a:rPr>
              <a:t>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0000" y="370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1B9D6"/>
                </a:solidFill>
                <a:latin typeface="微软雅黑"/>
              </a:rPr>
              <a:t>Corex
适配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50000" y="650000"/>
            <a:ext cx="6400000" cy="58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0000" y="700000"/>
            <a:ext cx="6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1B9D6"/>
                </a:solidFill>
                <a:latin typeface="微软雅黑"/>
              </a:rPr>
              <a:t>适配架构 (Corex + cuFile)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50000" y="1100000"/>
            <a:ext cx="6100000" cy="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0000" y="1180000"/>
            <a:ext cx="59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微软雅黑"/>
              </a:rPr>
              <a:t>GIDS_IX.py + GIDS_DGLDataLoader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0000" y="1520000"/>
            <a:ext cx="5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6A78"/>
                </a:solidFill>
                <a:latin typeface="微软雅黑"/>
              </a:rPr>
              <a:t>Python 接口兼容保留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0000" y="1880000"/>
            <a:ext cx="6100000" cy="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0000" y="1960000"/>
            <a:ext cx="59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微软雅黑"/>
              </a:rPr>
              <a:t>IXFeatureStore.so (pybind11)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0000" y="2300000"/>
            <a:ext cx="5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6A78"/>
                </a:solidFill>
                <a:latin typeface="微软雅黑"/>
              </a:rPr>
              <a:t>替代 BAM_Feature_Store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50000" y="2660000"/>
            <a:ext cx="6100000" cy="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000" y="2740000"/>
            <a:ext cx="59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86C1"/>
                </a:solidFill>
                <a:latin typeface="微软雅黑"/>
              </a:rPr>
              <a:t>ix_feature_store.cu (Host 端)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0000" y="3080000"/>
            <a:ext cx="5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6A78"/>
                </a:solidFill>
                <a:latin typeface="微软雅黑"/>
              </a:rPr>
              <a:t>无需 GPU Direct Page Fault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50000" y="3440000"/>
            <a:ext cx="6100000" cy="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0000" y="3520000"/>
            <a:ext cx="59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1B9D6"/>
                </a:solidFill>
                <a:latin typeface="微软雅黑"/>
              </a:rPr>
              <a:t>cuFileRead / cuFileWrite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0000" y="3860000"/>
            <a:ext cx="5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6A78"/>
                </a:solidFill>
                <a:latin typeface="微软雅黑"/>
              </a:rPr>
              <a:t>标准 GDS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50000" y="4220000"/>
            <a:ext cx="6100000" cy="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0000" y="4300000"/>
            <a:ext cx="59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微软雅黑"/>
              </a:rPr>
              <a:t>/mnt/nvme0/node_feat.bin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50000" y="4640000"/>
            <a:ext cx="5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6A78"/>
                </a:solidFill>
                <a:latin typeface="微软雅黑"/>
              </a:rPr>
              <a:t>普通文件替代裸设备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0000" y="5000000"/>
            <a:ext cx="6100000" cy="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50000" y="5080000"/>
            <a:ext cx="59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微软雅黑"/>
              </a:rPr>
              <a:t>Corex GPU + itrfs.ko + /dev/itrfs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0000" y="5420000"/>
            <a:ext cx="5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6A78"/>
                </a:solidFill>
                <a:latin typeface="微软雅黑"/>
              </a:rPr>
              <a:t>已验证可用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关键适配工作清单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DGL Compilation / cooperative_groups Patch / cuFile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关键适配工作 — DGL CUDA 版编译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DGL v1.1.3 Corex CUDA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为什么必须编译 Corex CUDA 版 DGL？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0000"/>
            <a:ext cx="5800000" cy="2200000"/>
          </a:xfrm>
          <a:prstGeom prst="rect">
            <a:avLst/>
          </a:prstGeom>
          <a:solidFill>
            <a:srgbClr val="F9EBE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1080000"/>
            <a:ext cx="5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微软雅黑"/>
              </a:rPr>
              <a:t>pip install dgl 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1430000"/>
            <a:ext cx="56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• pip 安装的是 CPU 版 libdgl.so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• 不包含 CUDA Device API 实现</a:t>
            </a:r>
          </a:p>
          <a:p>
            <a:pPr algn="l"/>
            <a:r>
              <a:rPr sz="1200" b="1">
                <a:solidFill>
                  <a:srgbClr val="E74C3C"/>
                </a:solidFill>
                <a:latin typeface="微软雅黑"/>
              </a:rPr>
              <a:t>• pin_memory_() 和 UVA 采样不可用 → GIDS DataLoader 崩溃</a:t>
            </a:r>
          </a:p>
          <a:p>
            <a:pPr algn="l"/>
            <a:r>
              <a:rPr sz="1200" b="1">
                <a:solidFill>
                  <a:srgbClr val="E74C3C"/>
                </a:solidFill>
                <a:latin typeface="微软雅黑"/>
              </a:rPr>
              <a:t>• graph.to('cuda:0') 调用失败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5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DGL v1.1.3 Corex 编译 6 项关键修复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50000"/>
            <a:ext cx="3663788" cy="11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50000"/>
            <a:ext cx="3663788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200" y="3850000"/>
            <a:ext cx="35037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微软雅黑"/>
              </a:rPr>
              <a:t>-Xcompiler 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00" y="4180000"/>
            <a:ext cx="350378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nvcc 接受逗号分隔，ixc 不接受
→ 改为 separate_arguments 空格列表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0988" y="3750000"/>
            <a:ext cx="3663788" cy="11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80988" y="3750000"/>
            <a:ext cx="3663788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60988" y="3850000"/>
            <a:ext cx="35037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微软雅黑"/>
              </a:rPr>
              <a:t>fp16.cuh 重定义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0988" y="4180000"/>
            <a:ext cx="350378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DGL 与 Corex SDK 的 fp16.cuh 冲突
→ 使用 #pragma once 保护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4776" y="3750000"/>
            <a:ext cx="3663788" cy="11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4776" y="3750000"/>
            <a:ext cx="3663788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4776" y="3850000"/>
            <a:ext cx="35037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微软雅黑"/>
              </a:rPr>
              <a:t>CCCL 禁用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4776" y="4180000"/>
            <a:ext cx="350378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Corex 不依赖 NVIDIA CCCL 头文件
→ -DUSE_CCCL=OFF 编译参数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50000"/>
            <a:ext cx="3663788" cy="11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50000"/>
            <a:ext cx="3663788" cy="8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200" y="5050000"/>
            <a:ext cx="35037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omp.h 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00" y="5380000"/>
            <a:ext cx="350378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OpenMP 头文件路径不同
→ 修正 include 搜索路径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0988" y="4950000"/>
            <a:ext cx="3663788" cy="11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80988" y="4950000"/>
            <a:ext cx="3663788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0988" y="5050000"/>
            <a:ext cx="35037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微软雅黑"/>
              </a:rPr>
              <a:t>array_iterator.h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0988" y="5380000"/>
            <a:ext cx="350378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DGL 依赖 CUDA Thrust 迭代器
→ 使用 Corex 兼容版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4776" y="4950000"/>
            <a:ext cx="3663788" cy="11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4776" y="4950000"/>
            <a:ext cx="3663788" cy="8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4776" y="5050000"/>
            <a:ext cx="35037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微软雅黑"/>
              </a:rPr>
              <a:t>gpu_cache 禁用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4776" y="5380000"/>
            <a:ext cx="350378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cooperative_groups tiled_partition 触发
LLVM %laneid PTX → 暂时禁用 gpu_cache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关键适配工作 — cooperative_groups 补丁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SWPM-918-gids 补丁分析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00000"/>
            <a:ext cx="5800000" cy="2300000"/>
          </a:xfrm>
          <a:prstGeom prst="rect">
            <a:avLst/>
          </a:prstGeom>
          <a:solidFill>
            <a:srgbClr val="F9EBE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680000"/>
            <a:ext cx="5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微软雅黑"/>
              </a:rPr>
              <a:t>问题：meta_group_rank() / %laneid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030000"/>
            <a:ext cx="56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DGL gpu_cache 和 GIDS window_buffer 使用了:</a:t>
            </a:r>
          </a:p>
          <a:p>
            <a:pPr algn="l"/>
            <a:r>
              <a:rPr sz="1200" b="0">
                <a:solidFill>
                  <a:srgbClr val="2E86C1"/>
                </a:solidFill>
                <a:latin typeface="微软雅黑"/>
              </a:rPr>
              <a:t>  cooperative_groups::tiled_partition&lt;32&gt;()</a:t>
            </a:r>
          </a:p>
          <a:p>
            <a:pPr algn="l"/>
            <a:r>
              <a:rPr sz="1200" b="0">
                <a:solidFill>
                  <a:srgbClr val="2E86C1"/>
                </a:solidFill>
                <a:latin typeface="微软雅黑"/>
              </a:rPr>
              <a:t>  meta_group_rank() / meta_group_size()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200" b="1">
                <a:solidFill>
                  <a:srgbClr val="E74C3C"/>
                </a:solidFill>
                <a:latin typeface="微软雅黑"/>
              </a:rPr>
              <a:t>问题根因：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ixc LLVM 后端在翻译 tiled_partition 时生成 %laneid PTX 寄存器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%laneid 在 Corex GPU 架构中未定义/不支持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非源码级问题，是编译器后端（LLVM llc）层面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00000"/>
            <a:ext cx="5800000" cy="2300000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00" y="3080000"/>
            <a:ext cx="5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微软雅黑"/>
              </a:rPr>
              <a:t>SWPM-918-gids 分支补丁方案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3430000"/>
            <a:ext cx="56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补丁位置：</a:t>
            </a:r>
          </a:p>
          <a:p>
            <a:pPr algn="l"/>
            <a:r>
              <a:rPr sz="1100" b="0">
                <a:solidFill>
                  <a:srgbClr val="2E86C1"/>
                </a:solidFill>
                <a:latin typeface="微软雅黑"/>
              </a:rPr>
              <a:t>  /home/corex/sw_home_1/sw_home/sdk/ixdriver/include/cooperative_groups.h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200" b="1">
                <a:solidFill>
                  <a:srgbClr val="44546A"/>
                </a:solidFill>
                <a:latin typeface="微软雅黑"/>
              </a:rPr>
              <a:t>补丁内容：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meta_group_rank() → 返回固定值（API 层绕过）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meta_group_size() → 返回固定值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200" b="1">
                <a:solidFill>
                  <a:srgbClr val="FFA500"/>
                </a:solidFill>
                <a:latin typeface="微软雅黑"/>
              </a:rPr>
              <a:t>重要限制：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仅对 API 调用层有效，不解决编译器后端 %laneid 问题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  gpu_cache 短期内仍需禁用（不影响 GIDS 核心功能）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0000" y="600000"/>
            <a:ext cx="5200000" cy="47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0000" y="68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影响范围分析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0000" y="105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微软雅黑"/>
              </a:rPr>
              <a:t>受影响组件：</a:t>
            </a:r>
          </a:p>
          <a:p>
            <a:pPr algn="l"/>
            <a:r>
              <a:rPr sz="1200" b="0">
                <a:solidFill>
                  <a:srgbClr val="E74C3C"/>
                </a:solidFill>
                <a:latin typeface="微软雅黑"/>
              </a:rPr>
              <a:t>  ❌ DGL gpu_cache 模块</a:t>
            </a:r>
          </a:p>
          <a:p>
            <a:pPr algn="l"/>
            <a:r>
              <a:rPr sz="1200" b="0">
                <a:solidFill>
                  <a:srgbClr val="FFA500"/>
                </a:solidFill>
                <a:latin typeface="微软雅黑"/>
              </a:rPr>
              <a:t>  ❌ GIDS window_buffer kernel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  ❌ 任何使用 tiled_partition 的 kernel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27AE60"/>
                </a:solidFill>
                <a:latin typeface="微软雅黑"/>
              </a:rPr>
              <a:t>不受影响组件：</a:t>
            </a:r>
          </a:p>
          <a:p>
            <a:pPr algn="l"/>
            <a:r>
              <a:rPr sz="1200" b="0">
                <a:solidFill>
                  <a:srgbClr val="27AE60"/>
                </a:solidFill>
                <a:latin typeface="微软雅黑"/>
              </a:rPr>
              <a:t>  ✅ IXFeatureStore 核心读写逻辑</a:t>
            </a:r>
          </a:p>
          <a:p>
            <a:pPr algn="l"/>
            <a:r>
              <a:rPr sz="1200" b="0">
                <a:solidFill>
                  <a:srgbClr val="27AE60"/>
                </a:solidFill>
                <a:latin typeface="微软雅黑"/>
              </a:rPr>
              <a:t>  ✅ cuFileRead/Write API</a:t>
            </a:r>
          </a:p>
          <a:p>
            <a:pPr algn="l"/>
            <a:r>
              <a:rPr sz="1200" b="0">
                <a:solidFill>
                  <a:srgbClr val="27AE60"/>
                </a:solidFill>
                <a:latin typeface="微软雅黑"/>
              </a:rPr>
              <a:t>  ✅ GIDS Python 接口层</a:t>
            </a:r>
          </a:p>
          <a:p>
            <a:pPr algn="l"/>
            <a:r>
              <a:rPr sz="1200" b="0">
                <a:solidFill>
                  <a:srgbClr val="27AE60"/>
                </a:solidFill>
                <a:latin typeface="微软雅黑"/>
              </a:rPr>
              <a:t>  ✅ DGL 图采样（CPU 侧）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短期应对：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  禁用 gpu_cache，不影响 GIDS 核心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  window_buffer 在 Python 层完成调度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长期方向：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  推动 SWPM-918 正式合入 ixc LLVM 后端</a:t>
            </a:r>
          </a:p>
          <a:p>
            <a:pPr algn="l"/>
            <a:r>
              <a:rPr sz="1200" b="0">
                <a:solidFill>
                  <a:srgbClr val="606A78"/>
                </a:solidFill>
                <a:latin typeface="微软雅黑"/>
              </a:rPr>
              <a:t>  或提供不依赖 %laneid 的替代实现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关键适配工作 — cuFile/GDS 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cuFile API Integration &amp; GDS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标准 cuFile API 对应关系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30000"/>
            <a:ext cx="27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200" y="1100000"/>
            <a:ext cx="26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7200" y="1030000"/>
            <a:ext cx="15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7200" y="1100000"/>
            <a:ext cx="14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7200" y="1030000"/>
            <a:ext cx="39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7200" y="1100000"/>
            <a:ext cx="38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说明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7200" y="1030000"/>
            <a:ext cx="1280000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7200" y="1100000"/>
            <a:ext cx="118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380000"/>
            <a:ext cx="27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200" y="146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cuFileDriverOpen()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7200" y="1380000"/>
            <a:ext cx="15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7200" y="146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初始化 cuFile 驱动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7200" y="1380000"/>
            <a:ext cx="39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7200" y="146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依赖 itrfs.ko + /dev/itrfs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57200" y="1380000"/>
            <a:ext cx="12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7200" y="146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40000"/>
            <a:ext cx="27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200" y="202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cuFileHandleRegister()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7200" y="1940000"/>
            <a:ext cx="15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7200" y="202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注册文件句柄（关联 fd）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57200" y="1940000"/>
            <a:ext cx="39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7200" y="202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打开后立即注册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57200" y="1940000"/>
            <a:ext cx="12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7200" y="202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500000"/>
            <a:ext cx="27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200" y="258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cuFileBufRegister()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57200" y="2500000"/>
            <a:ext cx="15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7200" y="258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注册 GPU buffer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57200" y="2500000"/>
            <a:ext cx="39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7200" y="258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malloc 后注册，加速 DMA 路径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57200" y="2500000"/>
            <a:ext cx="12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7200" y="258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060000"/>
            <a:ext cx="27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200" y="314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cuFileRead(fh, buf, size, file_off, buf_off)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7200" y="3060000"/>
            <a:ext cx="15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7200" y="314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DMA 读取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57200" y="3060000"/>
            <a:ext cx="39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7200" y="314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直接从 NVMe→GPU，绕过 CPU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57200" y="3060000"/>
            <a:ext cx="12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7200" y="314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620000"/>
            <a:ext cx="27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200" y="370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cuFileWrite(fh, buf, size, file_off, buf_off)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57200" y="3620000"/>
            <a:ext cx="15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17200" y="370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GPU DMA 写入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57200" y="3620000"/>
            <a:ext cx="39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17200" y="370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用于 tensor_write.py 数据准备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57200" y="3620000"/>
            <a:ext cx="12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7200" y="370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180000"/>
            <a:ext cx="27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7200" y="426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cuFileBufDeregister()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57200" y="4180000"/>
            <a:ext cx="15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17200" y="426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注销 GPU buffer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57200" y="4180000"/>
            <a:ext cx="39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17200" y="426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释放前必须注销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57200" y="4180000"/>
            <a:ext cx="12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17200" y="426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740000"/>
            <a:ext cx="27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7200" y="482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cuFileHandleDeregister()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57200" y="4740000"/>
            <a:ext cx="15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17200" y="482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注销文件句柄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57200" y="4740000"/>
            <a:ext cx="39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17200" y="482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关闭前注销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57200" y="4740000"/>
            <a:ext cx="1280000" cy="53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17200" y="482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5300000"/>
            <a:ext cx="27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7200" y="5380000"/>
            <a:ext cx="26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onsolas"/>
              </a:rPr>
              <a:t>cuFileDriverClose()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57200" y="5300000"/>
            <a:ext cx="15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17200" y="5380000"/>
            <a:ext cx="14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关闭 cuFile 驱动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57200" y="5300000"/>
            <a:ext cx="39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17200" y="5380000"/>
            <a:ext cx="38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程序退出前调用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57200" y="5300000"/>
            <a:ext cx="128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17200" y="5380000"/>
            <a:ext cx="11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微软雅黑"/>
              </a:rPr>
              <a:t>✅ 已验证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680000"/>
            <a:ext cx="11276965" cy="900000"/>
          </a:xfrm>
          <a:prstGeom prst="rect">
            <a:avLst/>
          </a:prstGeom>
          <a:solidFill>
            <a:srgbClr val="FFF5E6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0000" y="5760000"/>
            <a:ext cx="109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微软雅黑"/>
              </a:rPr>
              <a:t>自动降级机制（itrfs.ko 不可用时）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0000" y="6050000"/>
            <a:ext cx="10991365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6008"/>
                </a:solidFill>
                <a:latin typeface="微软雅黑"/>
              </a:rPr>
              <a:t>cuFileDriverOpen() 失败 → 检测到 /dev/itrfs 不可用 → 自动切换 POSIX pread()/pwrite() 路径 → ixMemcpy H2D 传输 → 保证程序不崩溃（性能降低约 2~3x）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依赖环境清单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Environment Dependencies &amp; Versions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00000"/>
            <a:ext cx="5400000" cy="5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680000"/>
            <a:ext cx="5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Corex 4.5.0 SDK 组件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1080000"/>
            <a:ext cx="5100000" cy="4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000" y="116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0000" y="116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libcudart.so + libcufile.so + libcuda.so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0000" y="116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000" y="1600000"/>
            <a:ext cx="5100000" cy="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000" y="168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ixinfer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000" y="168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libcuinfer.so.7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0000" y="168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0000" y="2120000"/>
            <a:ext cx="5100000" cy="4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000" y="220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ixpti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0000" y="220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libcupti.so (CUPTI Profiling)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0000" y="220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000" y="2640000"/>
            <a:ext cx="5100000" cy="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000" y="272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ixblas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0000" y="272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libcublas.so (BLAS)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0000" y="272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0000" y="3160000"/>
            <a:ext cx="5100000" cy="4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000" y="324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ixdnn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0000" y="324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libcudnn.so (DNN)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0000" y="324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0000" y="3680000"/>
            <a:ext cx="5100000" cy="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000" y="376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ixsparse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0000" y="376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libcusparse.so (Sparse)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0000" y="376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0000" y="4200000"/>
            <a:ext cx="5100000" cy="4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000" y="428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ixfft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0000" y="428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libcufft.so (FFT)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0000" y="428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0000" y="4720000"/>
            <a:ext cx="5100000" cy="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000" y="480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ixccl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0000" y="480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libnccl.so (Collective Comm)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0000" y="480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0000" y="5240000"/>
            <a:ext cx="5100000" cy="4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000" y="5320000"/>
            <a:ext cx="1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itrfs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0000" y="5320000"/>
            <a:ext cx="3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itrfs.ko + /dev/itrfs (GDS 驱动)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0000" y="5320000"/>
            <a:ext cx="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00000" y="600000"/>
            <a:ext cx="5600000" cy="5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50000" y="680000"/>
            <a:ext cx="5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C1"/>
                </a:solidFill>
                <a:latin typeface="微软雅黑"/>
              </a:rPr>
              <a:t>Python 依赖包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0000" y="1080000"/>
            <a:ext cx="5300000" cy="62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0000" y="1140000"/>
            <a:ext cx="1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torch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000" y="1410000"/>
            <a:ext cx="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2.10.0+corex.4.5.0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0000" y="1140000"/>
            <a:ext cx="3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Iluvatar 定制 PyTorch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0000" y="12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50000" y="1740000"/>
            <a:ext cx="530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0000" y="1800000"/>
            <a:ext cx="1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dgl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000" y="2070000"/>
            <a:ext cx="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1.1.3 CUDA 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0000" y="1800000"/>
            <a:ext cx="3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需源码编译 Corex 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0000" y="189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微软雅黑"/>
              </a:rPr>
              <a:t>🔧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50000" y="2400000"/>
            <a:ext cx="5300000" cy="62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0000" y="2460000"/>
            <a:ext cx="1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pybind11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0000" y="2730000"/>
            <a:ext cx="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2.13.6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0000" y="2460000"/>
            <a:ext cx="3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C++/Python 绑定编译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00000" y="255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50000" y="3060000"/>
            <a:ext cx="530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0000" y="3120000"/>
            <a:ext cx="1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numpy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0000" y="3390000"/>
            <a:ext cx="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&gt;=1.14.0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50000" y="3120000"/>
            <a:ext cx="3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数值计算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00000" y="321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50000" y="3720000"/>
            <a:ext cx="5300000" cy="62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0000" y="3780000"/>
            <a:ext cx="1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ogb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000" y="4050000"/>
            <a:ext cx="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1.3.6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50000" y="3780000"/>
            <a:ext cx="3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Open Graph Benchmark 数据集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0000" y="387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50000" y="4380000"/>
            <a:ext cx="530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0000" y="4440000"/>
            <a:ext cx="1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torchdata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000" y="4710000"/>
            <a:ext cx="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0.7.1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0000" y="4440000"/>
            <a:ext cx="3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注意：0.11.0 不兼容，必须降级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00000" y="45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A500"/>
                </a:solidFill>
                <a:latin typeface="微软雅黑"/>
              </a:rPr>
              <a:t>⚠️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50000" y="5040000"/>
            <a:ext cx="5300000" cy="62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000" y="5100000"/>
            <a:ext cx="1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Consolas"/>
              </a:rPr>
              <a:t>cooperative_groups.h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0000" y="5370000"/>
            <a:ext cx="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Consolas"/>
              </a:rPr>
              <a:t>SWPM-918-gids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50000" y="5100000"/>
            <a:ext cx="3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补丁分支版本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0000" y="519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微软雅黑"/>
              </a:rPr>
              <a:t>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51B9D6"/>
                </a:solidFill>
                <a:latin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1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后期工作流程与里程碑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9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1B9D6"/>
                </a:solidFill>
                <a:latin typeface="微软雅黑"/>
              </a:rPr>
              <a:t>End-to-End Validation Path / Phase Goals / Timeline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当前进展状态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Current Status (2026-06-12)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0000"/>
            <a:ext cx="3697121" cy="26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80000"/>
            <a:ext cx="3697121" cy="34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200" y="740000"/>
            <a:ext cx="3537121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✅ 架构分析完成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200" y="1080000"/>
            <a:ext cx="3537121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GIDS 全部源码深度分析（gids_kernel.cu / gids_nvme.cu）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BaM 框架与 Corex 兼容性逐 API 对比完成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三种适配方案（cuFile/BaM移植/POSIX）权衡决策完成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选定方案 A（cuFile 替代 BaM）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4321" y="680000"/>
            <a:ext cx="3697121" cy="26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4321" y="680000"/>
            <a:ext cx="3697121" cy="34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4321" y="740000"/>
            <a:ext cx="3537121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✅ 核心代码移植完成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321" y="1080000"/>
            <a:ext cx="3537121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ix_feature_store.h/cu (~450行) 新增实现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GIDS_IX.py 适配层完成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build_ix.sh 编译脚本完成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run.sh 一键自动化脚本完成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1442" y="680000"/>
            <a:ext cx="3697121" cy="26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1442" y="680000"/>
            <a:ext cx="3697121" cy="34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1442" y="740000"/>
            <a:ext cx="3537121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✅ 编译验证通过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442" y="1080000"/>
            <a:ext cx="3537121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sandbox 环境编译通过（g++ 模式）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Docker 真机 Corex 环境编译通过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pybind11 模块 IXFeatureStore 可正常 import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DGL v1.1.3 主库 Corex 编译进行中（6项修复已应用）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80000"/>
            <a:ext cx="3697121" cy="26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80000"/>
            <a:ext cx="3697121" cy="34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200" y="3540000"/>
            <a:ext cx="3537121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✅ 基础设施就绪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200" y="3880000"/>
            <a:ext cx="3537121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itrfs.ko 已加载，/dev/itrfs 已就绪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cooperative_groups.h SWPM-918-gids 补丁已部署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Corex 4.5.0 SDK 全部组件安装验证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GDS 加速路径 cuFile API 基础调用验证通过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4321" y="3480000"/>
            <a:ext cx="3697121" cy="26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4321" y="3480000"/>
            <a:ext cx="3697121" cy="34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4321" y="3540000"/>
            <a:ext cx="3537121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🔧 DGL CUDA 版编译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4321" y="3880000"/>
            <a:ext cx="3537121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6项编译问题已修复并应用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主库编译进度：90%（gpu_cache 模块禁用绕过）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预计完成：DGL 源码编译 + Python 包安装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验证：dgl.rand_graph().to('cuda:0') 正常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1442" y="3480000"/>
            <a:ext cx="3697121" cy="2600000"/>
          </a:xfrm>
          <a:prstGeom prst="rect">
            <a:avLst/>
          </a:prstGeom>
          <a:solidFill>
            <a:srgbClr val="F0F7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1442" y="3480000"/>
            <a:ext cx="3697121" cy="34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42" y="3540000"/>
            <a:ext cx="3537121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⏳ 端到端训练验证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1442" y="3880000"/>
            <a:ext cx="3537121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前置：DGL CUDA 版安装完成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准备数据：tensor_write_ix.py 写入特征到 NVMe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验证 GIDS_unit_test.py 单元测试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全链路：homogenous_train_ix.py 运行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后期工作流程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Future Work Pipeline &amp;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0000"/>
            <a:ext cx="2772841" cy="50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200" y="700000"/>
            <a:ext cx="2652841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Phase 1
近期 1~2 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0000"/>
            <a:ext cx="2772841" cy="3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200" y="1210000"/>
            <a:ext cx="2652841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1B9D6"/>
                </a:solidFill>
                <a:latin typeface="微软雅黑"/>
              </a:rPr>
              <a:t>DGL CUDA 版完成 + 端到端验证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60000"/>
            <a:ext cx="2772841" cy="4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200" y="1620000"/>
            <a:ext cx="2612841" cy="4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1B9D6"/>
                </a:solidFill>
                <a:latin typeface="微软雅黑"/>
              </a:rPr>
              <a:t>▸ 完成 DGL v1.1.3 Corex CUDA 源码编译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验证 graph.pin_memory_() 和 UVA 采样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准备测试数据：tensor_write_ix.py 写入特征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执行 GIDS_unit_test.py 单元测试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完成 homogenous_train_ix.py 端到端训练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测量基础吞吐量：Epoch时间 / DataLoader时间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0041" y="680000"/>
            <a:ext cx="2772841" cy="50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0041" y="700000"/>
            <a:ext cx="2652841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Phase 2
1~2 个月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0041" y="1180000"/>
            <a:ext cx="2772841" cy="3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0041" y="1210000"/>
            <a:ext cx="2652841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86C1"/>
                </a:solidFill>
                <a:latin typeface="微软雅黑"/>
              </a:rPr>
              <a:t>性能优化 + 多 SSD 支持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0041" y="1560000"/>
            <a:ext cx="2772841" cy="4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0041" y="1620000"/>
            <a:ext cx="2612841" cy="4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▸ 多 SSD 条带化：应用层 page_idx % n_ctrls 分片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Window Buffering 策略在新架构下的优化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Storage Access Accumulator 调参优化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CPU Feature Buffer（PageRank 热节点）集成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cuFile batch API 探索（减少 per-request 开销）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Profiling：ixpti + nsys 定位瓶颈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2882" y="680000"/>
            <a:ext cx="2772841" cy="50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2882" y="700000"/>
            <a:ext cx="2652841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Phase 3
2~3 个月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2882" y="1180000"/>
            <a:ext cx="2772841" cy="3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2882" y="1210000"/>
            <a:ext cx="2652841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A500"/>
                </a:solidFill>
                <a:latin typeface="微软雅黑"/>
              </a:rPr>
              <a:t>异构图 + 高级特性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2882" y="1560000"/>
            <a:ext cx="2772841" cy="4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2882" y="1620000"/>
            <a:ext cx="2612841" cy="4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500"/>
                </a:solidFill>
                <a:latin typeface="微软雅黑"/>
              </a:rPr>
              <a:t>▸ heterogeneous_train_ix.py 异构图支持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多流并发读取（Stream[0]/[1]/[2] 流水线）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cooperative_groups tiled_partition 正式修复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gpu_cache 模块重新启用（SWPM-918 合入后）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ClusterGCN 采样器适配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大规模数据集：IGB-Full / MAG240M 验证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25723" y="680000"/>
            <a:ext cx="2772841" cy="50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5723" y="700000"/>
            <a:ext cx="2652841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Phase 4
持续优化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25723" y="1180000"/>
            <a:ext cx="2772841" cy="38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5723" y="1210000"/>
            <a:ext cx="2652841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7AE60"/>
                </a:solidFill>
                <a:latin typeface="微软雅黑"/>
              </a:rPr>
              <a:t>生产化 + 文档完善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25723" y="1560000"/>
            <a:ext cx="2772841" cy="480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723" y="1620000"/>
            <a:ext cx="2612841" cy="4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微软雅黑"/>
              </a:rPr>
              <a:t>▸ GNN 训练基准测试（对比 NVIDIA 原版 GIDS）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Corex 平台性能调优指南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多 GPU / 多机分布式 GDS 扩展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cuFile 高级 API（cuFileStreamRead）探索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与 ixdriver 深度集成（专用 GDS 优化路径）</a:t>
            </a:r>
          </a:p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• 开源社区回馈与文档完善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572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365" cy="54864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000"/>
            <a:ext cx="112769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风险评估与对策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30000"/>
            <a:ext cx="1127696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06A78"/>
                </a:solidFill>
                <a:latin typeface="微软雅黑"/>
              </a:rPr>
              <a:t>Risk Assessment &amp;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0000"/>
            <a:ext cx="5550000" cy="8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80000"/>
            <a:ext cx="5550000" cy="8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7200" y="79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微软雅黑"/>
              </a:rPr>
              <a:t>itrfs.ko 稳定性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7200" y="780000"/>
            <a:ext cx="1400000" cy="26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200" y="820000"/>
            <a:ext cx="1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风险：高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200" y="111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▶ Corex GDS 驱动稳定性低于 NVIDIA nvidia-fs.ko，可能在高并发 I/O 下出现问题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00" y="133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建立 POSIX fallback 自动切换机制；定期 dmesg 监控驱动日志；联系 Iluvatar 内核团队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200" y="680000"/>
            <a:ext cx="5550000" cy="8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200" y="680000"/>
            <a:ext cx="5550000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7200" y="79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微软雅黑"/>
              </a:rPr>
              <a:t>cooperative_groups 后端问题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7200" y="780000"/>
            <a:ext cx="1400000" cy="26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57200" y="820000"/>
            <a:ext cx="1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风险：中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200" y="111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▶ %laneid PTX 在 ixc LLVM 后端无法翻译，影响 gpu_cache 和 window_buffer 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7200" y="133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短期禁用 gpu_cache；window_buffer 降级到 Python 层；跟进 SWPM-918 工单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580000"/>
            <a:ext cx="5550000" cy="8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580000"/>
            <a:ext cx="5550000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200" y="169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微软雅黑"/>
              </a:rPr>
              <a:t>DGL CUDA 版兼容性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7200" y="1680000"/>
            <a:ext cx="1400000" cy="26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200" y="1720000"/>
            <a:ext cx="1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风险：中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00" y="201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▶ DGL 依赖大量 CUDA 特有 API，Corex 兼容层可能有遗漏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00" y="223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逐模块测试，禁用不兼容子模块；优先保证采样核心功能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7200" y="1580000"/>
            <a:ext cx="5550000" cy="8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7200" y="1580000"/>
            <a:ext cx="5550000" cy="8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7200" y="169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微软雅黑"/>
              </a:rPr>
              <a:t>cuFile GDS 吞吐量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7200" y="1680000"/>
            <a:ext cx="1400000" cy="260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57200" y="1720000"/>
            <a:ext cx="1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风险：中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7200" y="201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▶ Corex cuFile 实现可能不如 NVIDIA 原版，影响 SSD 读取带宽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7200" y="223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Profiling 对比；探索 cuFile batch read；多 SSD 条带化补偿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480000"/>
            <a:ext cx="5550000" cy="8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480000"/>
            <a:ext cx="5550000" cy="8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7200" y="259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微软雅黑"/>
              </a:rPr>
              <a:t>PyTorch 版本耦合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57200" y="2580000"/>
            <a:ext cx="1400000" cy="2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200" y="2620000"/>
            <a:ext cx="1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风险：低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200" y="291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▶ torch-2.10.0+corex.4.5.0 与 SDK 4.5.0 强耦合，版本升级风险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0" y="313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锁定版本；升级前完整回归测试；维护版本兼容矩阵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07200" y="2480000"/>
            <a:ext cx="5550000" cy="870000"/>
          </a:xfrm>
          <a:prstGeom prst="rect">
            <a:avLst/>
          </a:prstGeom>
          <a:solidFill>
            <a:srgbClr val="F0F7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7200" y="2480000"/>
            <a:ext cx="5550000" cy="8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7200" y="259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4546A"/>
                </a:solidFill>
                <a:latin typeface="微软雅黑"/>
              </a:rPr>
              <a:t>大规模数据集准备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07200" y="2580000"/>
            <a:ext cx="1400000" cy="26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57200" y="2620000"/>
            <a:ext cx="1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风险：低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7200" y="291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A78"/>
                </a:solidFill>
                <a:latin typeface="微软雅黑"/>
              </a:rPr>
              <a:t>▶ IGB-Full (~2TB) 写入 NVMe 需要专用数据准备流程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7200" y="3130000"/>
            <a:ext cx="5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  <a:latin typeface="微软雅黑"/>
              </a:rPr>
              <a:t>✓ tensor_write_ix.py 批量写入；验证多 SSD 写入正确性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58000"/>
            <a:ext cx="12191365" cy="10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400000"/>
            <a:ext cx="1119136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1B9D6"/>
                </a:solidFill>
                <a:latin typeface="微软雅黑"/>
              </a:rPr>
              <a:t>总结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100000"/>
            <a:ext cx="11191365" cy="1100000"/>
          </a:xfrm>
          <a:prstGeom prst="rect">
            <a:avLst/>
          </a:prstGeom>
          <a:solidFill>
            <a:srgbClr val="1F4570"/>
          </a:solidFill>
          <a:ln w="254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0000" y="1100000"/>
            <a:ext cx="350000" cy="110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20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1B9D6"/>
                </a:solidFill>
                <a:latin typeface="微软雅黑"/>
              </a:rPr>
              <a:t>01  架构理解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1640000"/>
            <a:ext cx="105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A"/>
                </a:solidFill>
                <a:latin typeface="微软雅黑"/>
              </a:rPr>
              <a:t>GIDS 是四层架构的 GPU Direct Storage 系统，核心是 BaM 框架提供 GPU 端透明页故障 NVMe 访问能力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300000"/>
            <a:ext cx="11191365" cy="1100000"/>
          </a:xfrm>
          <a:prstGeom prst="rect">
            <a:avLst/>
          </a:prstGeom>
          <a:solidFill>
            <a:srgbClr val="1F4570"/>
          </a:solidFill>
          <a:ln w="25400">
            <a:solidFill>
              <a:srgbClr val="58D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0000" y="2300000"/>
            <a:ext cx="350000" cy="1100000"/>
          </a:xfrm>
          <a:prstGeom prst="rect">
            <a:avLst/>
          </a:prstGeom>
          <a:solidFill>
            <a:srgbClr val="58D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000" y="240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8D6A8"/>
                </a:solidFill>
                <a:latin typeface="微软雅黑"/>
              </a:rPr>
              <a:t>02  适配策略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00" y="2840000"/>
            <a:ext cx="105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A"/>
                </a:solidFill>
                <a:latin typeface="微软雅黑"/>
              </a:rPr>
              <a:t>选择方案 A（cuFile 替代 BaM）：用 IXFeatureStore + Corex libcufile.so 替代 BaM 裸 NVMe，降低移植风险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3500000"/>
            <a:ext cx="11191365" cy="1100000"/>
          </a:xfrm>
          <a:prstGeom prst="rect">
            <a:avLst/>
          </a:prstGeom>
          <a:solidFill>
            <a:srgbClr val="1F4570"/>
          </a:solidFill>
          <a:ln w="25400">
            <a:solidFill>
              <a:srgbClr val="FF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000" y="3500000"/>
            <a:ext cx="350000" cy="1100000"/>
          </a:xfrm>
          <a:prstGeom prst="rect">
            <a:avLst/>
          </a:prstGeom>
          <a:solidFill>
            <a:srgbClr val="FF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60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060"/>
                </a:solidFill>
                <a:latin typeface="微软雅黑"/>
              </a:rPr>
              <a:t>03  当前状态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000" y="4040000"/>
            <a:ext cx="105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A"/>
                </a:solidFill>
                <a:latin typeface="微软雅黑"/>
              </a:rPr>
              <a:t>核心代码移植完成（ix_feature_store.cu），编译验证通过，GDS 基础设施就绪，DGL 编译进行中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4700000"/>
            <a:ext cx="11191365" cy="1100000"/>
          </a:xfrm>
          <a:prstGeom prst="rect">
            <a:avLst/>
          </a:prstGeom>
          <a:solidFill>
            <a:srgbClr val="1F4570"/>
          </a:solidFill>
          <a:ln w="25400"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000" y="4700000"/>
            <a:ext cx="350000" cy="110000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000" y="480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080"/>
                </a:solidFill>
                <a:latin typeface="微软雅黑"/>
              </a:rPr>
              <a:t>04  后期路径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000" y="5240000"/>
            <a:ext cx="105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A"/>
                </a:solidFill>
                <a:latin typeface="微软雅黑"/>
              </a:rPr>
              <a:t>Phase 1 端到端验证 → Phase 2 性能优化 → Phase 3 异构图 → Phase 4 生产化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60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1B9D6"/>
                </a:solidFill>
                <a:latin typeface="微软雅黑"/>
              </a:rPr>
              <a:t>Iluvatar GPU Platform  |  GIDS Adaptation  |  Corex 4.5.0  |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