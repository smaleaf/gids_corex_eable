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6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2000"/>
            <a:ext cx="12191365" cy="6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0000" y="1500000"/>
            <a:ext cx="11991365" cy="3800000"/>
          </a:xfrm>
          <a:prstGeom prst="rect">
            <a:avLst/>
          </a:prstGeom>
          <a:solidFill>
            <a:srgbClr val="11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000" y="1500000"/>
            <a:ext cx="16000" cy="380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1620000"/>
            <a:ext cx="11291365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微软雅黑"/>
              </a:rPr>
              <a:t>bam_ptr 原生适配 Corex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2420000"/>
            <a:ext cx="1129136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7AC5E8"/>
                </a:solidFill>
                <a:latin typeface="微软雅黑"/>
              </a:rPr>
              <a:t>BaM GPU-Initiated NVMe Framework — Architecture Analysis &amp; Porting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2970000"/>
            <a:ext cx="2500000" cy="5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3060000"/>
            <a:ext cx="1129136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5D5EA"/>
                </a:solidFill>
                <a:latin typeface="微软雅黑"/>
              </a:rPr>
              <a:t>架构组成分析 · 6大适配项逐项攻克 · 完整工作流程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4700000"/>
            <a:ext cx="2700000" cy="900000"/>
          </a:xfrm>
          <a:prstGeom prst="rect">
            <a:avLst/>
          </a:prstGeom>
          <a:solidFill>
            <a:srgbClr val="183252"/>
          </a:solidFill>
          <a:ln w="25400">
            <a:solidFill>
              <a:srgbClr val="51B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000" y="4750000"/>
            <a:ext cx="255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51B9D6"/>
                </a:solidFill>
                <a:latin typeface="微软雅黑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000" y="5130000"/>
            <a:ext cx="25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BED8"/>
                </a:solidFill>
                <a:latin typeface="微软雅黑"/>
              </a:rPr>
              <a:t>总适配项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0000" y="4700000"/>
            <a:ext cx="2700000" cy="900000"/>
          </a:xfrm>
          <a:prstGeom prst="rect">
            <a:avLst/>
          </a:prstGeom>
          <a:solidFill>
            <a:srgbClr val="183252"/>
          </a:solidFill>
          <a:ln w="25400">
            <a:solidFill>
              <a:srgbClr val="1B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0000" y="4750000"/>
            <a:ext cx="255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B8A4C"/>
                </a:solidFill>
                <a:latin typeface="微软雅黑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0000" y="5130000"/>
            <a:ext cx="25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BED8"/>
                </a:solidFill>
                <a:latin typeface="微软雅黑"/>
              </a:rPr>
              <a:t>已可行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00000" y="4700000"/>
            <a:ext cx="2700000" cy="900000"/>
          </a:xfrm>
          <a:prstGeom prst="rect">
            <a:avLst/>
          </a:prstGeom>
          <a:solidFill>
            <a:srgbClr val="183252"/>
          </a:solidFill>
          <a:ln w="25400">
            <a:solidFill>
              <a:srgbClr val="D6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0000" y="4750000"/>
            <a:ext cx="255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D67B1E"/>
                </a:solidFill>
                <a:latin typeface="微软雅黑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0000" y="5130000"/>
            <a:ext cx="25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BED8"/>
                </a:solidFill>
                <a:latin typeface="微软雅黑"/>
              </a:rPr>
              <a:t>需验证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0000" y="4700000"/>
            <a:ext cx="2700000" cy="900000"/>
          </a:xfrm>
          <a:prstGeom prst="rect">
            <a:avLst/>
          </a:prstGeom>
          <a:solidFill>
            <a:srgbClr val="183252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80000" y="4750000"/>
            <a:ext cx="255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0392B"/>
                </a:solidFill>
                <a:latin typeface="微软雅黑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0000" y="5130000"/>
            <a:ext cx="25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BED8"/>
                </a:solidFill>
                <a:latin typeface="微软雅黑"/>
              </a:rPr>
              <a:t>需开发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0000" y="6500000"/>
            <a:ext cx="11291365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A6A9A"/>
                </a:solidFill>
                <a:latin typeface="微软雅黑"/>
              </a:rPr>
              <a:t>Iluvatar Corex 4.5.0  |  GIDS GNN Training  | 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50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80000"/>
            <a:ext cx="12191365" cy="5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80000"/>
            <a:ext cx="11391365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bam_ptr 是什么 — 为什么要原生适配它</a:t>
            </a:r>
          </a:p>
        </p:txBody>
      </p:sp>
      <p:sp>
        <p:nvSpPr>
          <p:cNvPr id="6" name="Rectangle 5"/>
          <p:cNvSpPr/>
          <p:nvPr/>
        </p:nvSpPr>
        <p:spPr>
          <a:xfrm>
            <a:off x="350000" y="580000"/>
            <a:ext cx="5400000" cy="5900000"/>
          </a:xfrm>
          <a:prstGeom prst="rect">
            <a:avLst/>
          </a:prstGeom>
          <a:solidFill>
            <a:srgbClr val="E8F6FD"/>
          </a:solidFill>
          <a:ln w="25400">
            <a:solidFill>
              <a:srgbClr val="51B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660000"/>
            <a:ext cx="51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7A9A"/>
                </a:solidFill>
                <a:latin typeface="微软雅黑"/>
              </a:rPr>
              <a:t>bam_ptr&lt;T&gt; 的核心价值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060000"/>
            <a:ext cx="5100000" cy="5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1F35"/>
                </a:solidFill>
                <a:latin typeface="微软雅黑"/>
              </a:rPr>
              <a:t>GPU kernel 内的「智能 NVMe 指针」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r>
              <a:rPr sz="1300" b="1">
                <a:solidFill>
                  <a:srgbClr val="1A7A9A"/>
                </a:solidFill>
                <a:latin typeface="微软雅黑"/>
              </a:rPr>
              <a:t>工作方式：</a:t>
            </a:r>
          </a:p>
          <a:p>
            <a:r>
              <a:rPr sz="1200" b="0">
                <a:solidFill>
                  <a:srgbClr val="1E5A9A"/>
                </a:solidFill>
                <a:latin typeface="微软雅黑"/>
              </a:rPr>
              <a:t>bam_ptr&lt;float&gt; ptr(array);   // 指向 NVMe 上的数据</a:t>
            </a:r>
          </a:p>
          <a:p>
            <a:r>
              <a:rPr sz="1200" b="0">
                <a:solidFill>
                  <a:srgbClr val="1E5A9A"/>
                </a:solidFill>
                <a:latin typeface="微软雅黑"/>
              </a:rPr>
              <a:t>float val = ptr[row * dim + col];  // GPU kernel 内透明读取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r>
              <a:rPr sz="1300" b="1">
                <a:solidFill>
                  <a:srgbClr val="1A7A9A"/>
                </a:solidFill>
                <a:latin typeface="微软雅黑"/>
              </a:rPr>
              <a:t>透明语义：</a:t>
            </a:r>
          </a:p>
          <a:p>
            <a:r>
              <a:rPr sz="1200" b="0">
                <a:solidFill>
                  <a:srgbClr val="4A5A6A"/>
                </a:solidFill>
                <a:latin typeface="微软雅黑"/>
              </a:rPr>
              <a:t>• operator[] 被调用 → 检查 GPU 显存 page cache</a:t>
            </a:r>
          </a:p>
          <a:p>
            <a:r>
              <a:rPr sz="1200" b="0">
                <a:solidFill>
                  <a:srgbClr val="1B8A4C"/>
                </a:solidFill>
                <a:latin typeface="微软雅黑"/>
              </a:rPr>
              <a:t>• Cache Hit：直接从 GPU 显存返回，零延迟</a:t>
            </a:r>
          </a:p>
          <a:p>
            <a:r>
              <a:rPr sz="1200" b="0">
                <a:solidFill>
                  <a:srgbClr val="D67B1E"/>
                </a:solidFill>
                <a:latin typeface="微软雅黑"/>
              </a:rPr>
              <a:t>• Cache Miss：GPU warp 直接写 NVMe 命令到 SQ 寄存器</a:t>
            </a:r>
          </a:p>
          <a:p>
            <a:r>
              <a:rPr sz="1200" b="0">
                <a:solidFill>
                  <a:srgbClr val="D67B1E"/>
                </a:solidFill>
                <a:latin typeface="微软雅黑"/>
              </a:rPr>
              <a:t>   ↳ NVMe 控制器 DMA 数据到 GPU 显存（P2P）</a:t>
            </a:r>
          </a:p>
          <a:p>
            <a:r>
              <a:rPr sz="1200" b="0">
                <a:solidFill>
                  <a:srgbClr val="D67B1E"/>
                </a:solidFill>
                <a:latin typeface="微软雅黑"/>
              </a:rPr>
              <a:t>   ↳ GPU warp 轮询 CQ，获取数据，继续执行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r>
              <a:rPr sz="1300" b="1">
                <a:solidFill>
                  <a:srgbClr val="0D1F35"/>
                </a:solidFill>
                <a:latin typeface="微软雅黑"/>
              </a:rPr>
              <a:t>与 cuFile 路线的本质区别：</a:t>
            </a:r>
          </a:p>
          <a:p>
            <a:r>
              <a:rPr sz="1200" b="0">
                <a:solidFill>
                  <a:srgbClr val="C0392B"/>
                </a:solidFill>
                <a:latin typeface="微软雅黑"/>
              </a:rPr>
              <a:t>• cuFile：CPU 发起 DMA → GPU，有调度延迟</a:t>
            </a:r>
          </a:p>
          <a:p>
            <a:r>
              <a:rPr sz="1200" b="0">
                <a:solidFill>
                  <a:srgbClr val="1B8A4C"/>
                </a:solidFill>
                <a:latin typeface="微软雅黑"/>
              </a:rPr>
              <a:t>• bam_ptr：GPU 自主发起 NVMe I/O，CPU 完全不参与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r>
              <a:rPr sz="1300" b="1">
                <a:solidFill>
                  <a:srgbClr val="0D1F35"/>
                </a:solidFill>
                <a:latin typeface="微软雅黑"/>
              </a:rPr>
              <a:t>性能差异（理论）：</a:t>
            </a:r>
          </a:p>
          <a:p>
            <a:r>
              <a:rPr sz="1200" b="0">
                <a:solidFill>
                  <a:srgbClr val="1B8A4C"/>
                </a:solidFill>
                <a:latin typeface="微软雅黑"/>
              </a:rPr>
              <a:t>• 消除 CPU 调度路径，I/O 延迟降低 50~80%</a:t>
            </a:r>
          </a:p>
          <a:p>
            <a:r>
              <a:rPr sz="1200" b="0">
                <a:solidFill>
                  <a:srgbClr val="1B8A4C"/>
                </a:solidFill>
                <a:latin typeface="微软雅黑"/>
              </a:rPr>
              <a:t>• 多 GPU warp 并发访问，NVMe 队列深度饱和</a:t>
            </a:r>
          </a:p>
          <a:p>
            <a:r>
              <a:rPr sz="1200" b="0">
                <a:solidFill>
                  <a:srgbClr val="1B8A4C"/>
                </a:solidFill>
                <a:latin typeface="微软雅黑"/>
              </a:rPr>
              <a:t>• 与 NVIDIA 原版 GIDS 论文性能一致</a:t>
            </a:r>
          </a:p>
        </p:txBody>
      </p:sp>
      <p:sp>
        <p:nvSpPr>
          <p:cNvPr id="9" name="Rectangle 8"/>
          <p:cNvSpPr/>
          <p:nvPr/>
        </p:nvSpPr>
        <p:spPr>
          <a:xfrm>
            <a:off x="6100000" y="580000"/>
            <a:ext cx="5700000" cy="5900000"/>
          </a:xfrm>
          <a:prstGeom prst="rect">
            <a:avLst/>
          </a:prstGeom>
          <a:solidFill>
            <a:srgbClr val="E8F0FB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0000" y="660000"/>
            <a:ext cx="54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6C1"/>
                </a:solidFill>
                <a:latin typeface="微软雅黑"/>
              </a:rPr>
              <a:t>BaM 在 GIDS 中的位置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0000" y="1100000"/>
            <a:ext cx="5400000" cy="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A5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0" y="118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5A6A"/>
                </a:solidFill>
                <a:latin typeface="微软雅黑"/>
              </a:rPr>
              <a:t>Python 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0000" y="1180000"/>
            <a:ext cx="3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GIDS.py / GIDS_DGLDataLoader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0000" y="1800000"/>
            <a:ext cx="4000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4A5A6A"/>
                </a:solidFill>
                <a:latin typeface="微软雅黑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0000" y="1870000"/>
            <a:ext cx="5400000" cy="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A9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0" y="195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A9BAA"/>
                </a:solidFill>
                <a:latin typeface="微软雅黑"/>
              </a:rPr>
              <a:t>pybind11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0000" y="1950000"/>
            <a:ext cx="3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BAM_Feature_Store.so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0000" y="2570000"/>
            <a:ext cx="4000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A9BAA"/>
                </a:solidFill>
                <a:latin typeface="微软雅黑"/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50000" y="2640000"/>
            <a:ext cx="5400000" cy="700000"/>
          </a:xfrm>
          <a:prstGeom prst="rect">
            <a:avLst/>
          </a:prstGeom>
          <a:solidFill>
            <a:srgbClr val="E8F0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0" y="272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C1"/>
                </a:solidFill>
                <a:latin typeface="微软雅黑"/>
              </a:rPr>
              <a:t>C++/CUDA 核心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0000" y="2720000"/>
            <a:ext cx="3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gids_kernel.cu / gids_nvme.cu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0000" y="3340000"/>
            <a:ext cx="4000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86C1"/>
                </a:solidFill>
                <a:latin typeface="微软雅黑"/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50000" y="3410000"/>
            <a:ext cx="5400000" cy="700000"/>
          </a:xfrm>
          <a:prstGeom prst="rect">
            <a:avLst/>
          </a:prstGeom>
          <a:solidFill>
            <a:srgbClr val="E8F6FD"/>
          </a:solidFill>
          <a:ln w="19050">
            <a:solidFill>
              <a:srgbClr val="1A7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0000" y="349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A9A"/>
                </a:solidFill>
                <a:latin typeface="微软雅黑"/>
              </a:rPr>
              <a:t>BaM 框架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0000" y="3490000"/>
            <a:ext cx="3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bam_ptr&lt;T&gt; / page_cache_t / Controller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0000" y="4110000"/>
            <a:ext cx="4000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7A9A"/>
                </a:solidFill>
                <a:latin typeface="微软雅黑"/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50000" y="4180000"/>
            <a:ext cx="5400000" cy="700000"/>
          </a:xfrm>
          <a:prstGeom prst="rect">
            <a:avLst/>
          </a:prstGeom>
          <a:solidFill>
            <a:srgbClr val="FEF5E7"/>
          </a:solidFill>
          <a:ln w="19050">
            <a:solidFill>
              <a:srgbClr val="D6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000" y="426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67B1E"/>
                </a:solidFill>
                <a:latin typeface="微软雅黑"/>
              </a:rPr>
              <a:t>内核模块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0000" y="4260000"/>
            <a:ext cx="3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libnvm.ko → /dev/libnvmX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50000" y="4880000"/>
            <a:ext cx="4000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67B1E"/>
                </a:solidFill>
                <a:latin typeface="微软雅黑"/>
              </a:rPr>
              <a:t>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50000" y="4950000"/>
            <a:ext cx="5400000" cy="700000"/>
          </a:xfrm>
          <a:prstGeom prst="rect">
            <a:avLst/>
          </a:prstGeom>
          <a:solidFill>
            <a:srgbClr val="E0E8F5"/>
          </a:solidFill>
          <a:ln w="19050">
            <a:solidFill>
              <a:srgbClr val="0D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0000" y="503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F35"/>
                </a:solidFill>
                <a:latin typeface="微软雅黑"/>
              </a:rPr>
              <a:t>硬件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0000" y="5030000"/>
            <a:ext cx="3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IX GPU ←PCIe P2P→ NVMe SSD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50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80000"/>
            <a:ext cx="12191365" cy="5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80000"/>
            <a:ext cx="11391365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BaM 完整架构组成 — 五大核心对象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6395000"/>
            <a:ext cx="11391365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AA"/>
                </a:solidFill>
                <a:latin typeface="微软雅黑"/>
              </a:rPr>
              <a:t>每个对象的职责、CUDA 依赖、适配难度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380000" y="580000"/>
            <a:ext cx="2258273" cy="5900000"/>
          </a:xfrm>
          <a:prstGeom prst="rect">
            <a:avLst/>
          </a:prstGeom>
          <a:solidFill>
            <a:srgbClr val="E8F8F0"/>
          </a:solidFill>
          <a:ln w="25400">
            <a:solidFill>
              <a:srgbClr val="1A7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0000" y="580000"/>
            <a:ext cx="2258273" cy="350000"/>
          </a:xfrm>
          <a:prstGeom prst="rect">
            <a:avLst/>
          </a:prstGeom>
          <a:solidFill>
            <a:srgbClr val="1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000" y="610000"/>
            <a:ext cx="2138273" cy="2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bafs_ptr&lt;T&gt;
(bam_ptr)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000" y="990000"/>
            <a:ext cx="213827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7A9A"/>
                </a:solidFill>
                <a:latin typeface="微软雅黑"/>
              </a:rPr>
              <a:t>职责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000" y="1230000"/>
            <a:ext cx="2138273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5A6A"/>
                </a:solidFill>
                <a:latin typeface="微软雅黑"/>
              </a:rPr>
              <a:t>• 头文件：bafs_ptr.h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层次：GPU kernel 内使用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operator[](i) → page cache 查找 + NVMe I/O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000" y="2380000"/>
            <a:ext cx="213827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微软雅黑"/>
              </a:rPr>
              <a:t>CUDA依赖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000" y="2620000"/>
            <a:ext cx="2138273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5A6A"/>
                </a:solidFill>
                <a:latin typeface="微软雅黑"/>
              </a:rPr>
              <a:t>• #include &lt;page_cache.h&gt;（间接依赖所有）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__host__ __device__ 标记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000" y="3980000"/>
            <a:ext cx="213827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6B3A"/>
                </a:solidFill>
                <a:latin typeface="微软雅黑"/>
              </a:rPr>
              <a:t>Corex方案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000" y="4220000"/>
            <a:ext cx="2138273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5A6A"/>
                </a:solidFill>
                <a:latin typeface="微软雅黑"/>
              </a:rPr>
              <a:t>• simt::atomic 通过 page_cache_t 间接引用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无直接 CUDA API 调用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000" y="5520000"/>
            <a:ext cx="2138273" cy="33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000" y="5560000"/>
            <a:ext cx="2138273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✅ 轻松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3273" y="580000"/>
            <a:ext cx="2258273" cy="5900000"/>
          </a:xfrm>
          <a:prstGeom prst="rect">
            <a:avLst/>
          </a:prstGeom>
          <a:solidFill>
            <a:srgbClr val="FEF5E7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53273" y="580000"/>
            <a:ext cx="2258273" cy="35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13273" y="610000"/>
            <a:ext cx="2138273" cy="2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page_cache_t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3273" y="990000"/>
            <a:ext cx="213827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86C1"/>
                </a:solidFill>
                <a:latin typeface="微软雅黑"/>
              </a:rPr>
              <a:t>职责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13273" y="1230000"/>
            <a:ext cx="2138273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5A6A"/>
                </a:solidFill>
                <a:latin typeface="微软雅黑"/>
              </a:rPr>
              <a:t>• 头文件：page_cache.h（2143行）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层次：GPU kernel + Host 管理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GPU 显存页缓存：LRU 淘汰 + page fault 处理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13273" y="2380000"/>
            <a:ext cx="213827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微软雅黑"/>
              </a:rPr>
              <a:t>CUDA依赖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13273" y="2620000"/>
            <a:ext cx="2138273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5A6A"/>
                </a:solidFill>
                <a:latin typeface="微软雅黑"/>
              </a:rPr>
              <a:t>• #include &lt;simt/atomic&gt;  ← CCCL 依赖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#include &lt;nvm_parallel_queue.h&gt;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大量 simt::atomic 原子操作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13273" y="3980000"/>
            <a:ext cx="213827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6B3A"/>
                </a:solidFill>
                <a:latin typeface="微软雅黑"/>
              </a:rPr>
              <a:t>Corex方案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3273" y="4220000"/>
            <a:ext cx="2138273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5A6A"/>
                </a:solidFill>
                <a:latin typeface="微软雅黑"/>
              </a:rPr>
              <a:t>• simt::atomic&lt;uint32_t, thread_scope_device&gt;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simt::atomic&lt;uint64_t, thread_scope_device&gt;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DmaPtr pages_dma (GPU 内存 DMA 注册)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13273" y="5520000"/>
            <a:ext cx="2138273" cy="330000"/>
          </a:xfrm>
          <a:prstGeom prst="rect">
            <a:avLst/>
          </a:prstGeom>
          <a:solidFill>
            <a:srgbClr val="D6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13273" y="5560000"/>
            <a:ext cx="2138273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⚠️ 中等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26546" y="580000"/>
            <a:ext cx="2258273" cy="5900000"/>
          </a:xfrm>
          <a:prstGeom prst="rect">
            <a:avLst/>
          </a:prstGeom>
          <a:solidFill>
            <a:srgbClr val="FEF5E7"/>
          </a:solidFill>
          <a:ln w="25400">
            <a:solidFill>
              <a:srgbClr val="D6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26546" y="580000"/>
            <a:ext cx="2258273" cy="350000"/>
          </a:xfrm>
          <a:prstGeom prst="rect">
            <a:avLst/>
          </a:prstGeom>
          <a:solidFill>
            <a:srgbClr val="D6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6546" y="610000"/>
            <a:ext cx="2138273" cy="2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nvm_types.h
(nvm_queue_t)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6546" y="990000"/>
            <a:ext cx="213827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B1E"/>
                </a:solidFill>
                <a:latin typeface="微软雅黑"/>
              </a:rPr>
              <a:t>职责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6546" y="1230000"/>
            <a:ext cx="2138273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5A6A"/>
                </a:solidFill>
                <a:latin typeface="微软雅黑"/>
              </a:rPr>
              <a:t>• NVMe 队列描述符（SQ/CQ）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volatile uint32_t* db  ← 门铃寄存器指针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GPU kernel 通过 db 写入触发 NVMe I/O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6546" y="2380000"/>
            <a:ext cx="213827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微软雅黑"/>
              </a:rPr>
              <a:t>CUDA依赖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6546" y="2620000"/>
            <a:ext cx="2138273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5A6A"/>
                </a:solidFill>
                <a:latin typeface="微软雅黑"/>
              </a:rPr>
              <a:t>• #include &lt;simt/atomic&gt;  ← CCCL 依赖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simt::thread_scope_device +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6546" y="3980000"/>
            <a:ext cx="213827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6B3A"/>
                </a:solidFill>
                <a:latin typeface="微软雅黑"/>
              </a:rPr>
              <a:t>Corex方案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6546" y="4220000"/>
            <a:ext cx="2138273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5A6A"/>
                </a:solidFill>
                <a:latin typeface="微软雅黑"/>
              </a:rPr>
              <a:t>• NVMe SQ/CQ 在 GPU 内存中分配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db 指针 = NVMe BAR mmap + cudaHostGetDevicePointer()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86546" y="5520000"/>
            <a:ext cx="2138273" cy="330000"/>
          </a:xfrm>
          <a:prstGeom prst="rect">
            <a:avLst/>
          </a:prstGeom>
          <a:solidFill>
            <a:srgbClr val="D6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86546" y="5560000"/>
            <a:ext cx="2138273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⚠️ 中等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99819" y="580000"/>
            <a:ext cx="2258273" cy="5900000"/>
          </a:xfrm>
          <a:prstGeom prst="rect">
            <a:avLst/>
          </a:prstGeom>
          <a:solidFill>
            <a:srgbClr val="FEF5E7"/>
          </a:solidFill>
          <a:ln w="25400">
            <a:solidFill>
              <a:srgbClr val="14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99819" y="580000"/>
            <a:ext cx="2258273" cy="350000"/>
          </a:xfrm>
          <a:prstGeom prst="rect">
            <a:avLst/>
          </a:prstGeom>
          <a:solidFill>
            <a:srgbClr val="1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59819" y="610000"/>
            <a:ext cx="2138273" cy="2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Controller
(ctrl.h)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59819" y="990000"/>
            <a:ext cx="213827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6B3A"/>
                </a:solidFill>
                <a:latin typeface="微软雅黑"/>
              </a:rPr>
              <a:t>职责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59819" y="1230000"/>
            <a:ext cx="2138273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5A6A"/>
                </a:solidFill>
                <a:latin typeface="微软雅黑"/>
              </a:rPr>
              <a:t>• Host 端控制器管理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打开 /dev/libnvmX，读取 NVMe BAR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cudaHostRegister(mm_ptr, IoMemory) 注册 MMIO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59819" y="2380000"/>
            <a:ext cx="213827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微软雅黑"/>
              </a:rPr>
              <a:t>CUDA依赖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59819" y="2620000"/>
            <a:ext cx="2138273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5A6A"/>
                </a:solidFill>
                <a:latin typeface="微软雅黑"/>
              </a:rPr>
              <a:t>• cudaHostRegister + cudaHostRegisterIoMemory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cudaHostGetDevicePointer 获取门铃 GPU 地址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cudaMalloc / cudaMemcpy / cuda_err_chk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59819" y="3980000"/>
            <a:ext cx="213827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6B3A"/>
                </a:solidFill>
                <a:latin typeface="微软雅黑"/>
              </a:rPr>
              <a:t>Corex方案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59819" y="4220000"/>
            <a:ext cx="2138273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5A6A"/>
                </a:solidFill>
                <a:latin typeface="微软雅黑"/>
              </a:rPr>
              <a:t>• cudaHostRegisterIoMemory = 0x04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cudaHostGetDevicePointer → ix 已有映射!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cudaMalloc/cudaMemcpy → ix 已有映射!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59819" y="5520000"/>
            <a:ext cx="2138273" cy="330000"/>
          </a:xfrm>
          <a:prstGeom prst="rect">
            <a:avLst/>
          </a:prstGeom>
          <a:solidFill>
            <a:srgbClr val="D6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59819" y="5560000"/>
            <a:ext cx="2138273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⚠️ 待测试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73092" y="580000"/>
            <a:ext cx="2258273" cy="5900000"/>
          </a:xfrm>
          <a:prstGeom prst="rect">
            <a:avLst/>
          </a:prstGeom>
          <a:solidFill>
            <a:srgbClr val="FDEDE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473092" y="580000"/>
            <a:ext cx="2258273" cy="35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33092" y="610000"/>
            <a:ext cx="2138273" cy="2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libnvm.ko
内核模块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33092" y="990000"/>
            <a:ext cx="213827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微软雅黑"/>
              </a:rPr>
              <a:t>职责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33092" y="1230000"/>
            <a:ext cx="2138273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5A6A"/>
                </a:solidFill>
                <a:latin typeface="微软雅黑"/>
              </a:rPr>
              <a:t>• A部分：mmap_registers() — NVMe BAR mmap 到用户态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B部分：NVM_MAP_HOST_MEMORY — 主机内存 DMA 注册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C部分(#ifdef _CUDA)：GPU 内存 DMA 注册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33092" y="2380000"/>
            <a:ext cx="213827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微软雅黑"/>
              </a:rPr>
              <a:t>CUDA依赖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33092" y="2620000"/>
            <a:ext cx="2138273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5A6A"/>
                </a:solidFill>
                <a:latin typeface="微软雅黑"/>
              </a:rPr>
              <a:t>• A+B：纯 Linux PCI/DMA API，无 NVIDIA 依赖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C：#include &lt;nv-p2p.h&gt;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   nvidia_p2p_get_pages()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   nvidia_p2p_dma_map_pages()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33092" y="3980000"/>
            <a:ext cx="213827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6B3A"/>
                </a:solidFill>
                <a:latin typeface="微软雅黑"/>
              </a:rPr>
              <a:t>Corex方案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33092" y="4220000"/>
            <a:ext cx="2138273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5A6A"/>
                </a:solidFill>
                <a:latin typeface="微软雅黑"/>
              </a:rPr>
              <a:t>• A+B：无需修改直接编译 ✅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C：需替换 nvidia_p2p_* 为 Corex 等价物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   选项1：Corex ix-p2p.h 内核 API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   选项2：gdrapi.h 用户态路径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33092" y="5520000"/>
            <a:ext cx="2138273" cy="33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33092" y="5560000"/>
            <a:ext cx="2138273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❌ 需要开发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0000" y="3423000"/>
            <a:ext cx="11991365" cy="10000"/>
          </a:xfrm>
          <a:prstGeom prst="rect">
            <a:avLst/>
          </a:prstGeom>
          <a:solidFill>
            <a:srgbClr val="1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0000" y="1700000"/>
            <a:ext cx="35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51B9D6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3200000"/>
            <a:ext cx="11491365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/>
              </a:rPr>
              <a:t>NVMe 完整 I/O 路径解析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000" y="4200000"/>
            <a:ext cx="1149136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B5D5"/>
                </a:solidFill>
                <a:latin typeface="微软雅黑"/>
              </a:rPr>
              <a:t>How GPU kernel reads from NVMe — end-to-end path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50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80000"/>
            <a:ext cx="12191365" cy="5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80000"/>
            <a:ext cx="11391365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完整 NVMe 读取路径 — bam_ptr Cache Miss 到数据就位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6395000"/>
            <a:ext cx="11391365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AA"/>
                </a:solidFill>
                <a:latin typeface="微软雅黑"/>
              </a:rPr>
              <a:t>This is the full path that needs to work on Corex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00" y="580000"/>
            <a:ext cx="1898560" cy="5900000"/>
          </a:xfrm>
          <a:prstGeom prst="rect">
            <a:avLst/>
          </a:prstGeom>
          <a:solidFill>
            <a:srgbClr val="E8F6FD"/>
          </a:solidFill>
          <a:ln w="25400">
            <a:solidFill>
              <a:srgbClr val="1A7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000" y="580000"/>
            <a:ext cx="1898560" cy="420000"/>
          </a:xfrm>
          <a:prstGeom prst="rect">
            <a:avLst/>
          </a:prstGeom>
          <a:solidFill>
            <a:srgbClr val="1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0000" y="600000"/>
            <a:ext cx="18185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Step 1
GPU kernel
触发 cache miss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00" y="1070000"/>
            <a:ext cx="1798560" cy="4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5A6A"/>
                </a:solidFill>
                <a:latin typeface="微软雅黑"/>
              </a:rPr>
              <a:t>• GPU warp 执行 ptr[row*dim+col]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page_cache_t 查找对应页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页状态 = INVALID → cache miss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GPU warp 进入 NVMe 读取流程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0000" y="5320000"/>
            <a:ext cx="1798560" cy="300000"/>
          </a:xfrm>
          <a:prstGeom prst="rect">
            <a:avLst/>
          </a:prstGeom>
          <a:solidFill>
            <a:srgbClr val="1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000" y="5350000"/>
            <a:ext cx="179856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GPU kernel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3560" y="2800000"/>
            <a:ext cx="3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7A9A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63560" y="580000"/>
            <a:ext cx="1898560" cy="5900000"/>
          </a:xfrm>
          <a:prstGeom prst="rect">
            <a:avLst/>
          </a:prstGeom>
          <a:solidFill>
            <a:srgbClr val="E8F0FB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63560" y="580000"/>
            <a:ext cx="1898560" cy="42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03560" y="600000"/>
            <a:ext cx="18185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Step 2
GPU 构造
NVMe 命令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13560" y="1070000"/>
            <a:ext cx="1798560" cy="4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5A6A"/>
                </a:solidFill>
                <a:latin typeface="微软雅黑"/>
              </a:rPr>
              <a:t>• 在 SQ（提交队列）写入 NVMe READ 命令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cmd.prp1 = GPU 页缓冲区 bus 地址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cmd.slba = 数据在 NVMe 上的逻辑块地址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GPU warp 直接写 nvm_queue_t 数据结构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3560" y="5320000"/>
            <a:ext cx="1798560" cy="30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13560" y="5350000"/>
            <a:ext cx="179856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GPU kernel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7120" y="2800000"/>
            <a:ext cx="3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微软雅黑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77120" y="580000"/>
            <a:ext cx="1898560" cy="5900000"/>
          </a:xfrm>
          <a:prstGeom prst="rect">
            <a:avLst/>
          </a:prstGeom>
          <a:solidFill>
            <a:srgbClr val="FEF5E7"/>
          </a:solidFill>
          <a:ln w="25400">
            <a:solidFill>
              <a:srgbClr val="D6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77120" y="580000"/>
            <a:ext cx="1898560" cy="420000"/>
          </a:xfrm>
          <a:prstGeom prst="rect">
            <a:avLst/>
          </a:prstGeom>
          <a:solidFill>
            <a:srgbClr val="D6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17120" y="600000"/>
            <a:ext cx="18185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Step 3
GPU 写门铃
触发 NVMe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7120" y="1070000"/>
            <a:ext cx="1798560" cy="4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5A6A"/>
                </a:solidFill>
                <a:latin typeface="微软雅黑"/>
              </a:rPr>
              <a:t>• *sq.db = sq.tail  // 写入 SQ 门铃寄存器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sq.db = NVMe BAR0 mmap + GPU 虚地址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通过 cudaHostRegisterIoMemory 获得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NVMe 控制器检测到新命令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27120" y="5320000"/>
            <a:ext cx="1798560" cy="300000"/>
          </a:xfrm>
          <a:prstGeom prst="rect">
            <a:avLst/>
          </a:prstGeom>
          <a:solidFill>
            <a:srgbClr val="D6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7120" y="5350000"/>
            <a:ext cx="179856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关键适配点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680" y="2800000"/>
            <a:ext cx="3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67B1E"/>
                </a:solidFill>
                <a:latin typeface="微软雅黑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0680" y="580000"/>
            <a:ext cx="1898560" cy="5900000"/>
          </a:xfrm>
          <a:prstGeom prst="rect">
            <a:avLst/>
          </a:prstGeom>
          <a:solidFill>
            <a:srgbClr val="E8F8F0"/>
          </a:solidFill>
          <a:ln w="25400">
            <a:solidFill>
              <a:srgbClr val="14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90680" y="580000"/>
            <a:ext cx="1898560" cy="420000"/>
          </a:xfrm>
          <a:prstGeom prst="rect">
            <a:avLst/>
          </a:prstGeom>
          <a:solidFill>
            <a:srgbClr val="1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30680" y="600000"/>
            <a:ext cx="18185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Step 4
NVMe DMA
P2P 传输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0680" y="1070000"/>
            <a:ext cx="1798560" cy="4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5A6A"/>
                </a:solidFill>
                <a:latin typeface="微软雅黑"/>
              </a:rPr>
              <a:t>• NVMe 控制器读取 SQ 命令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从 NAND Flash 读取数据块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PCIe P2P DMA 写入 GPU 显存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目标地址 = prp1 (GPU bus address)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40680" y="5320000"/>
            <a:ext cx="1798560" cy="300000"/>
          </a:xfrm>
          <a:prstGeom prst="rect">
            <a:avLst/>
          </a:prstGeom>
          <a:solidFill>
            <a:srgbClr val="1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40680" y="5350000"/>
            <a:ext cx="179856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硬件层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94240" y="2800000"/>
            <a:ext cx="3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6B3A"/>
                </a:solidFill>
                <a:latin typeface="微软雅黑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4240" y="580000"/>
            <a:ext cx="1898560" cy="5900000"/>
          </a:xfrm>
          <a:prstGeom prst="rect">
            <a:avLst/>
          </a:prstGeom>
          <a:solidFill>
            <a:srgbClr val="F5F0FF"/>
          </a:solidFill>
          <a:ln w="25400">
            <a:solidFill>
              <a:srgbClr val="603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04240" y="580000"/>
            <a:ext cx="1898560" cy="420000"/>
          </a:xfrm>
          <a:prstGeom prst="rect">
            <a:avLst/>
          </a:prstGeom>
          <a:solidFill>
            <a:srgbClr val="603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4240" y="600000"/>
            <a:ext cx="18185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Step 5
GPU 轮询
CQ 完成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54240" y="1070000"/>
            <a:ext cx="1798560" cy="4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5A6A"/>
                </a:solidFill>
                <a:latin typeface="微软雅黑"/>
              </a:rPr>
              <a:t>• GPU warp 轮询 CQ（完成队列）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等待 NVMe 完成条目出现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验证命令状态 = Success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写 CQ 门铃，标记页为 VALID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54240" y="5320000"/>
            <a:ext cx="1798560" cy="300000"/>
          </a:xfrm>
          <a:prstGeom prst="rect">
            <a:avLst/>
          </a:prstGeom>
          <a:solidFill>
            <a:srgbClr val="603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54240" y="5350000"/>
            <a:ext cx="179856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GPU kernel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7800" y="2800000"/>
            <a:ext cx="3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309A"/>
                </a:solidFill>
                <a:latin typeface="微软雅黑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17800" y="580000"/>
            <a:ext cx="1898560" cy="5900000"/>
          </a:xfrm>
          <a:prstGeom prst="rect">
            <a:avLst/>
          </a:prstGeom>
          <a:solidFill>
            <a:srgbClr val="E8F6FD"/>
          </a:solidFill>
          <a:ln w="25400">
            <a:solidFill>
              <a:srgbClr val="0D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17800" y="580000"/>
            <a:ext cx="1898560" cy="42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57800" y="600000"/>
            <a:ext cx="18185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Step 6
数据就位
继续执行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7800" y="1070000"/>
            <a:ext cx="1798560" cy="4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5A6A"/>
                </a:solidFill>
                <a:latin typeface="微软雅黑"/>
              </a:rPr>
              <a:t>• page_cache_t 标记页 VALID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GPU warp 从显存读取数据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ptr[idx] 返回正确数据值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继续 GNN 计算（前向传播）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67800" y="5320000"/>
            <a:ext cx="1798560" cy="30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67800" y="5350000"/>
            <a:ext cx="179856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完成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0000" y="6500000"/>
            <a:ext cx="11491365" cy="220000"/>
          </a:xfrm>
          <a:prstGeom prst="rect">
            <a:avLst/>
          </a:prstGeom>
          <a:solidFill>
            <a:srgbClr val="FEF5E7"/>
          </a:solidFill>
          <a:ln w="19050">
            <a:solidFill>
              <a:srgbClr val="D6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0000" y="6520000"/>
            <a:ext cx="11291365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7B1E"/>
                </a:solidFill>
                <a:latin typeface="微软雅黑"/>
              </a:rPr>
              <a:t>Corex 适配关键：Step 3（cudaHostRegisterIoMemory → NVMe 门铃映射到 GPU VA）+ Step 4（GPU 显存作 NVMe DMA 目标）— 这两步决定 bam_ptr 是否能在 IX GPU 上运行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0000" y="3423000"/>
            <a:ext cx="11991365" cy="10000"/>
          </a:xfrm>
          <a:prstGeom prst="rect">
            <a:avLst/>
          </a:prstGeom>
          <a:solidFill>
            <a:srgbClr val="1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0000" y="1700000"/>
            <a:ext cx="35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51B9D6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3200000"/>
            <a:ext cx="11491365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/>
              </a:rPr>
              <a:t>6 大适配项逐项攻克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000" y="4200000"/>
            <a:ext cx="1149136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B5D5"/>
                </a:solidFill>
                <a:latin typeface="微软雅黑"/>
              </a:rPr>
              <a:t>Detailed analysis of each adaptation item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50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80000"/>
            <a:ext cx="12191365" cy="5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80000"/>
            <a:ext cx="11391365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6 大适配项总览 — 一图全景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6395000"/>
            <a:ext cx="11391365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AA"/>
                </a:solidFill>
                <a:latin typeface="微软雅黑"/>
              </a:rPr>
              <a:t>Green = confirmed, Orange = needs test, Red = needs 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00" y="580000"/>
            <a:ext cx="5750000" cy="830000"/>
          </a:xfrm>
          <a:prstGeom prst="rect">
            <a:avLst/>
          </a:prstGeom>
          <a:solidFill>
            <a:srgbClr val="E8F8F0"/>
          </a:solidFill>
          <a:ln w="25400">
            <a:solidFill>
              <a:srgbClr val="1B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000" y="580000"/>
            <a:ext cx="350000" cy="83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0000" y="660000"/>
            <a:ext cx="26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000" y="640000"/>
            <a:ext cx="22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B8A4C"/>
                </a:solidFill>
                <a:latin typeface="微软雅黑"/>
              </a:rPr>
              <a:t>simt::atomic → cuda::atomic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0000" y="100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微软雅黑"/>
              </a:rPr>
              <a:t>问题：page_cache_t, nvm_types.h, nvm_parallel_queue.h
全文件 simt:: 前缀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0000" y="640000"/>
            <a:ext cx="2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cuda/std/atomic 已确认存在
thread_scope_device 支持已验证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0000" y="980000"/>
            <a:ext cx="1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8A4C"/>
                </a:solidFill>
                <a:latin typeface="微软雅黑"/>
              </a:rPr>
              <a:t>⏱ 1 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00000" y="730000"/>
            <a:ext cx="1430000" cy="30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0000" y="760000"/>
            <a:ext cx="139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✅ 已确认可行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580000"/>
            <a:ext cx="5750000" cy="830000"/>
          </a:xfrm>
          <a:prstGeom prst="rect">
            <a:avLst/>
          </a:prstGeom>
          <a:solidFill>
            <a:srgbClr val="E8F8F0"/>
          </a:solidFill>
          <a:ln w="25400">
            <a:solidFill>
              <a:srgbClr val="1B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0000" y="580000"/>
            <a:ext cx="350000" cy="83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0" y="660000"/>
            <a:ext cx="26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000" y="640000"/>
            <a:ext cx="22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B8A4C"/>
                </a:solidFill>
                <a:latin typeface="微软雅黑"/>
              </a:rPr>
              <a:t>&lt;&lt;&lt;&gt;&gt;&gt; 语法 + CUDA Runtime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000" y="100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微软雅黑"/>
              </a:rPr>
              <a:t>问题：gids_kernel.cu kernel 调用语法
cudaMalloc / cudaMemcpy / cudaMemset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000" y="640000"/>
            <a:ext cx="2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ixc 编译器原生支持 &lt;&lt;&lt;&gt;&gt;&gt;
mapping_cudart.h 全部 1:1 映射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0000" y="980000"/>
            <a:ext cx="1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8A4C"/>
                </a:solidFill>
                <a:latin typeface="微软雅黑"/>
              </a:rPr>
              <a:t>⏱ 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50000" y="730000"/>
            <a:ext cx="1430000" cy="30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70000" y="760000"/>
            <a:ext cx="139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✅ 已确认可行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000" y="1425000"/>
            <a:ext cx="5750000" cy="830000"/>
          </a:xfrm>
          <a:prstGeom prst="rect">
            <a:avLst/>
          </a:prstGeom>
          <a:solidFill>
            <a:srgbClr val="E8F8F0"/>
          </a:solidFill>
          <a:ln w="25400">
            <a:solidFill>
              <a:srgbClr val="1B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0000" y="1425000"/>
            <a:ext cx="350000" cy="83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0000" y="1505000"/>
            <a:ext cx="26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0000" y="1485000"/>
            <a:ext cx="22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B8A4C"/>
                </a:solidFill>
                <a:latin typeface="微软雅黑"/>
              </a:rPr>
              <a:t>cuda_err_chk / 错误处理宏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0000" y="1845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微软雅黑"/>
              </a:rPr>
              <a:t>问题：所有 .cu .cpp 文件中的
cuda_err_chk() 调用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50000" y="1485000"/>
            <a:ext cx="2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ixError_t 类型兼容
可用 #define cuda_err_chk ix_err_chk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50000" y="1825000"/>
            <a:ext cx="1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8A4C"/>
                </a:solidFill>
                <a:latin typeface="微软雅黑"/>
              </a:rPr>
              <a:t>⏱ 0.5 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00000" y="1575000"/>
            <a:ext cx="1430000" cy="30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20000" y="1605000"/>
            <a:ext cx="139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✅ 已确认可行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0000" y="1425000"/>
            <a:ext cx="5750000" cy="830000"/>
          </a:xfrm>
          <a:prstGeom prst="rect">
            <a:avLst/>
          </a:prstGeom>
          <a:solidFill>
            <a:srgbClr val="FEF5E7"/>
          </a:solidFill>
          <a:ln w="25400">
            <a:solidFill>
              <a:srgbClr val="D6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0000" y="1425000"/>
            <a:ext cx="350000" cy="830000"/>
          </a:xfrm>
          <a:prstGeom prst="rect">
            <a:avLst/>
          </a:prstGeom>
          <a:solidFill>
            <a:srgbClr val="D6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0000" y="1505000"/>
            <a:ext cx="26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000" y="1485000"/>
            <a:ext cx="22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D67B1E"/>
                </a:solidFill>
                <a:latin typeface="微软雅黑"/>
              </a:rPr>
              <a:t>cudaHostRegisterIoMemory
NVMe BAR → GPU VA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000" y="1845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微软雅黑"/>
              </a:rPr>
              <a:t>问题：ctrl.h: Controller 构造函数
cudaHostRegister(mm_ptr, IoMemory)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0000" y="1485000"/>
            <a:ext cx="2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ixHostRegisterIoMemory = 0x04 已声明
ixHostRegister + ixHostGetDevicePointer 已有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0000" y="1825000"/>
            <a:ext cx="1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B1E"/>
                </a:solidFill>
                <a:latin typeface="微软雅黑"/>
              </a:rPr>
              <a:t>⏱ 1 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550000" y="1575000"/>
            <a:ext cx="1430000" cy="300000"/>
          </a:xfrm>
          <a:prstGeom prst="rect">
            <a:avLst/>
          </a:prstGeom>
          <a:solidFill>
            <a:srgbClr val="D6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70000" y="1605000"/>
            <a:ext cx="139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⚠️ API存在,需运行时测试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0000" y="2270000"/>
            <a:ext cx="5750000" cy="830000"/>
          </a:xfrm>
          <a:prstGeom prst="rect">
            <a:avLst/>
          </a:prstGeom>
          <a:solidFill>
            <a:srgbClr val="E8F8F0"/>
          </a:solidFill>
          <a:ln w="25400">
            <a:solidFill>
              <a:srgbClr val="1B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50000" y="2270000"/>
            <a:ext cx="350000" cy="83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0000" y="2350000"/>
            <a:ext cx="26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0000" y="2330000"/>
            <a:ext cx="22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B8A4C"/>
                </a:solidFill>
                <a:latin typeface="微软雅黑"/>
              </a:rPr>
              <a:t>libnvm.ko Part A+B
(NVMe BAR + 主机 DMA)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0000" y="269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微软雅黑"/>
              </a:rPr>
              <a:t>问题：module/pci.c: mmap_registers()
module/map.c: NVM_MAP_HOST_MEMORY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50000" y="2330000"/>
            <a:ext cx="2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纯 Linux PCI/DMA API
无任何 NVIDIA 专有依赖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50000" y="2670000"/>
            <a:ext cx="1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8A4C"/>
                </a:solidFill>
                <a:latin typeface="微软雅黑"/>
              </a:rPr>
              <a:t>⏱ 2~3 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00000" y="2420000"/>
            <a:ext cx="1430000" cy="30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20000" y="2450000"/>
            <a:ext cx="139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✅ 纯Linux代码,可直接编译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0000" y="2270000"/>
            <a:ext cx="5750000" cy="830000"/>
          </a:xfrm>
          <a:prstGeom prst="rect">
            <a:avLst/>
          </a:prstGeom>
          <a:solidFill>
            <a:srgbClr val="FDEDE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00000" y="2270000"/>
            <a:ext cx="350000" cy="83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0000" y="2350000"/>
            <a:ext cx="26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20000" y="2330000"/>
            <a:ext cx="22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微软雅黑"/>
              </a:rPr>
              <a:t>libnvm.ko Part C
(GPU 内存 DMA 注册)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000" y="269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微软雅黑"/>
              </a:rPr>
              <a:t>问题：#ifdef _CUDA 部分
nv-p2p.h + nvidia_p2p_get_pages()
nvidia_p2p_dma_map_pages()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00000" y="2330000"/>
            <a:ext cx="2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选项A：Corex gdrapi.h 用户态路径
选项B：向 Iluvatar 请求 ix-p2p.h 内核 API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00000" y="2670000"/>
            <a:ext cx="1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微软雅黑"/>
              </a:rPr>
              <a:t>⏱ 2~4 周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550000" y="2420000"/>
            <a:ext cx="1430000" cy="30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70000" y="2450000"/>
            <a:ext cx="139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❌ 需要实现 Corex P2P 替换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50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80000"/>
            <a:ext cx="12191365" cy="5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80000"/>
            <a:ext cx="11391365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适配项 ①②③ — 已确认可行（当日可完成）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6395000"/>
            <a:ext cx="11391365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AA"/>
                </a:solidFill>
                <a:latin typeface="微软雅黑"/>
              </a:rPr>
              <a:t>Zero-risk items — confirmed by examining Corex headers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00" y="580000"/>
            <a:ext cx="3680000" cy="5900000"/>
          </a:xfrm>
          <a:prstGeom prst="rect">
            <a:avLst/>
          </a:prstGeom>
          <a:solidFill>
            <a:srgbClr val="E8F8F0"/>
          </a:solidFill>
          <a:ln w="31750">
            <a:solidFill>
              <a:srgbClr val="1B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000" y="580000"/>
            <a:ext cx="3680000" cy="40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000" y="610000"/>
            <a:ext cx="349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① simt::atomic → cuda::atomic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1050000"/>
            <a:ext cx="348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1F35"/>
                </a:solidFill>
                <a:latin typeface="微软雅黑"/>
              </a:rPr>
              <a:t>BaM 中的问题：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nvm_types.h, page_cache.h, nvm_parallel_queue.h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全部使用 NVIDIA CCCL #include &lt;simt/atomic&gt;</a:t>
            </a:r>
          </a:p>
          <a:p>
            <a:r>
              <a:rPr sz="1100" b="0">
                <a:solidFill>
                  <a:srgbClr val="C0392B"/>
                </a:solidFill>
                <a:latin typeface="微软雅黑"/>
              </a:rPr>
              <a:t>simt::atomic&lt;uint32_t, simt::thread_scope_device&gt;</a:t>
            </a:r>
          </a:p>
          <a:p>
            <a:r>
              <a:rPr sz="1100" b="0">
                <a:solidFill>
                  <a:srgbClr val="C0392B"/>
                </a:solidFill>
                <a:latin typeface="微软雅黑"/>
              </a:rPr>
              <a:t>simt::memory_order_relaxed / acquire / release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r>
              <a:rPr sz="1200" b="1">
                <a:solidFill>
                  <a:srgbClr val="1B8A4C"/>
                </a:solidFill>
                <a:latin typeface="微软雅黑"/>
              </a:rPr>
              <a:t>Corex 验证结论：</a:t>
            </a:r>
          </a:p>
          <a:p>
            <a:r>
              <a:rPr sz="1100" b="0">
                <a:solidFill>
                  <a:srgbClr val="1B8A4C"/>
                </a:solidFill>
                <a:latin typeface="微软雅黑"/>
              </a:rPr>
              <a:t>cuda/std/atomic 在 Corex 下可用 ✅</a:t>
            </a:r>
          </a:p>
          <a:p>
            <a:r>
              <a:rPr sz="1100" b="0">
                <a:solidFill>
                  <a:srgbClr val="1B8A4C"/>
                </a:solidFill>
                <a:latin typeface="微软雅黑"/>
              </a:rPr>
              <a:t>thread_scope_device 已实现 ✅</a:t>
            </a:r>
          </a:p>
          <a:p>
            <a:r>
              <a:rPr sz="1100" b="0">
                <a:solidFill>
                  <a:srgbClr val="1B8A4C"/>
                </a:solidFill>
                <a:latin typeface="微软雅黑"/>
              </a:rPr>
              <a:t>fetch_add/fetch_sub/store/load/exchange 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0000" y="3650000"/>
            <a:ext cx="3480000" cy="2550000"/>
          </a:xfrm>
          <a:prstGeom prst="rect">
            <a:avLst/>
          </a:prstGeom>
          <a:solidFill>
            <a:srgbClr val="F4F7FA"/>
          </a:solidFill>
          <a:ln w="1270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0000" y="3650000"/>
            <a:ext cx="18000" cy="2550000"/>
          </a:xfrm>
          <a:prstGeom prst="rect">
            <a:avLst/>
          </a:prstGeom>
          <a:solidFill>
            <a:srgbClr val="1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000" y="3710000"/>
            <a:ext cx="3320000" cy="2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5A9A"/>
                </a:solidFill>
                <a:latin typeface="Consolas"/>
              </a:rPr>
              <a:t>// 修复命令 (30 秒)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find bam/include -name "*.h" | xargs \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sed -i \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's|simt::|cuda::|g;\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s|&lt;simt/atomic&gt;|&lt;cuda/std/atomic&gt;|g'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/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// 修改前（BaM）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#include &lt;simt/atomic&gt;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simt::atomic&lt;uint32_t,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simt::thread_scope_device&gt; state;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state.fetch_sub(1, simt::memory_order_release);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/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// 修改后（Corex）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#include &lt;cuda/std/atomic&gt;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cuda::atomic&lt;uint32_t,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cuda::thread_scope_device&gt; state;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state.fetch_sub(1, cuda::memory_order_release);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30000" y="580000"/>
            <a:ext cx="3680000" cy="5900000"/>
          </a:xfrm>
          <a:prstGeom prst="rect">
            <a:avLst/>
          </a:prstGeom>
          <a:solidFill>
            <a:srgbClr val="E8F8F0"/>
          </a:solidFill>
          <a:ln w="31750">
            <a:solidFill>
              <a:srgbClr val="1B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30000" y="580000"/>
            <a:ext cx="3680000" cy="40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30000" y="610000"/>
            <a:ext cx="349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② &lt;&lt;&lt;&gt;&gt;&gt; 语法 + CUDA Runtime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0000" y="1050000"/>
            <a:ext cx="348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8A4C"/>
                </a:solidFill>
                <a:latin typeface="微软雅黑"/>
              </a:rPr>
              <a:t>&lt;&lt;&lt;&gt;&gt;&gt; 语法验证：</a:t>
            </a:r>
          </a:p>
          <a:p>
            <a:r>
              <a:rPr sz="1100" b="0">
                <a:solidFill>
                  <a:srgbClr val="1B8A4C"/>
                </a:solidFill>
                <a:latin typeface="微软雅黑"/>
              </a:rPr>
              <a:t>ixc 编译器原生翻译 &lt;&lt;&lt;&gt;&gt;&gt; → __ixLaunch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host_runtime.h 内部宏：</a:t>
            </a:r>
          </a:p>
          <a:p>
            <a:r>
              <a:rPr sz="1100" b="0">
                <a:solidFill>
                  <a:srgbClr val="1E5A9A"/>
                </a:solidFill>
                <a:latin typeface="微软雅黑"/>
              </a:rPr>
              <a:t>__ixPopCallConfiguration() + ixLaunchKernel()</a:t>
            </a:r>
          </a:p>
          <a:p>
            <a:r>
              <a:rPr sz="1100" b="0">
                <a:solidFill>
                  <a:srgbClr val="1B8A4C"/>
                </a:solidFill>
                <a:latin typeface="微软雅黑"/>
              </a:rPr>
              <a:t>无需任何源码修改 ✅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r>
              <a:rPr sz="1200" b="1">
                <a:solidFill>
                  <a:srgbClr val="1B8A4C"/>
                </a:solidFill>
                <a:latin typeface="微软雅黑"/>
              </a:rPr>
              <a:t>CUDA Runtime API 已映射：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cudaMalloc → ixMalloc ✅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cudaMemcpy → ixMemcpy ✅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cudaMemset → ixMemset ✅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cudaHostAlloc → ixHostAlloc ✅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cudaFree → ixFree ✅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cuda_err_chk → 宏重定义 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30000" y="3100000"/>
            <a:ext cx="3480000" cy="3100000"/>
          </a:xfrm>
          <a:prstGeom prst="rect">
            <a:avLst/>
          </a:prstGeom>
          <a:solidFill>
            <a:srgbClr val="F4F7FA"/>
          </a:solidFill>
          <a:ln w="1270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30000" y="3100000"/>
            <a:ext cx="18000" cy="3100000"/>
          </a:xfrm>
          <a:prstGeom prst="rect">
            <a:avLst/>
          </a:prstGeom>
          <a:solidFill>
            <a:srgbClr val="1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0000" y="3160000"/>
            <a:ext cx="3320000" cy="2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5A9A"/>
                </a:solidFill>
                <a:latin typeface="Consolas"/>
              </a:rPr>
              <a:t>// gids_kernel.cu — 无需修改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read_feature_kernel&lt;TYPE&gt;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&lt;&lt;&lt;g_size, b_size&gt;&gt;&gt;(args...);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/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read_feature_kernel&lt;TYPE&gt;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&lt;&lt;&lt;g_size, b_size, 0, streams[i]&gt;&gt;&gt;(args...);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/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// mapping_cudart.h 保证（节选）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#define cudaMalloc     ixMalloc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#define cudaMemcpy     ixMemcpy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#define cudaMemset     ixMemset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#define cudaHostAlloc  ixHostAlloc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#define cudaFree       ixFree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#define cudaSetDevice  ixSetDevice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// ... 共 3000+ 行映射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10000" y="580000"/>
            <a:ext cx="3900000" cy="5900000"/>
          </a:xfrm>
          <a:prstGeom prst="rect">
            <a:avLst/>
          </a:prstGeom>
          <a:solidFill>
            <a:srgbClr val="E8F8F0"/>
          </a:solidFill>
          <a:ln w="31750">
            <a:solidFill>
              <a:srgbClr val="1B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10000" y="580000"/>
            <a:ext cx="3900000" cy="40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0000" y="610000"/>
            <a:ext cx="37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③ libnvm.ko Part A+B — NVMe BAR mmap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0000" y="1050000"/>
            <a:ext cx="37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8A4C"/>
                </a:solidFill>
                <a:latin typeface="微软雅黑"/>
              </a:rPr>
              <a:t>module/pci.c — NVMe BAR 映射到用户态：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mmap_registers() 使用标准 Linux API：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pgprot_noncached() — 标准内存保护 ✅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vm_iomap_memory() — 标准 MMIO 映射 ✅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pci_resource_start/len() — 标准 PCI ✅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r>
              <a:rPr sz="1200" b="1">
                <a:solidFill>
                  <a:srgbClr val="1B8A4C"/>
                </a:solidFill>
                <a:latin typeface="微软雅黑"/>
              </a:rPr>
              <a:t>module/map.c — 主机内存 DMA 注册：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NVM_MAP_HOST_MEMORY ioctl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dma_map_sg() — 标准 Linux DMA ✅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无任何 #ifdef _CUDA 代码路径 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10000" y="3100000"/>
            <a:ext cx="3700000" cy="3100000"/>
          </a:xfrm>
          <a:prstGeom prst="rect">
            <a:avLst/>
          </a:prstGeom>
          <a:solidFill>
            <a:srgbClr val="F4F7FA"/>
          </a:solidFill>
          <a:ln w="1270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10000" y="3100000"/>
            <a:ext cx="18000" cy="3100000"/>
          </a:xfrm>
          <a:prstGeom prst="rect">
            <a:avLst/>
          </a:prstGeom>
          <a:solidFill>
            <a:srgbClr val="1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0000" y="3160000"/>
            <a:ext cx="3540000" cy="2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5A9A"/>
                </a:solidFill>
                <a:latin typeface="Consolas"/>
              </a:rPr>
              <a:t>// 编译方法（不带 _CUDA）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# Makefile 中去掉 -D_CUDA 选项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# map.c 中所有 #ifdef _CUDA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# 块均被跳过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/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make -C /lib/modules/$(uname -r)/build \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M=$(pwd)/bam/module \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modules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/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# 生成 libnvm.ko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# 加载：insmod libnvm.ko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# 创建设备：/dev/libnvm0, /dev/libnvm1 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50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80000"/>
            <a:ext cx="12191365" cy="5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80000"/>
            <a:ext cx="11391365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适配项 ④ — cudaHostRegisterIoMemory（NVMe 门铃→GPU 地址）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6395000"/>
            <a:ext cx="11391365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AA"/>
                </a:solidFill>
                <a:latin typeface="微软雅黑"/>
              </a:rPr>
              <a:t>The doorbell mapping: most important runtime behavior to verify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00" y="580000"/>
            <a:ext cx="5700000" cy="5900000"/>
          </a:xfrm>
          <a:prstGeom prst="rect">
            <a:avLst/>
          </a:prstGeom>
          <a:solidFill>
            <a:srgbClr val="FEF5E7"/>
          </a:solidFill>
          <a:ln w="31750">
            <a:solidFill>
              <a:srgbClr val="D6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60000"/>
            <a:ext cx="5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67B1E"/>
                </a:solidFill>
                <a:latin typeface="微软雅黑"/>
              </a:rPr>
              <a:t>为什么这是关键适配项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1060000"/>
            <a:ext cx="55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1F35"/>
                </a:solidFill>
                <a:latin typeface="微软雅黑"/>
              </a:rPr>
              <a:t>NVMe 门铃写入流程：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r>
              <a:rPr sz="1200" b="0">
                <a:solidFill>
                  <a:srgbClr val="4A5A6A"/>
                </a:solidFill>
                <a:latin typeface="微软雅黑"/>
              </a:rPr>
              <a:t>1. CPU 打开 /dev/libnvm0，mmap() BAR0</a:t>
            </a:r>
          </a:p>
          <a:p>
            <a:r>
              <a:rPr sz="1100" b="0">
                <a:solidFill>
                  <a:srgbClr val="1E5A9A"/>
                </a:solidFill>
                <a:latin typeface="微软雅黑"/>
              </a:rPr>
              <a:t>   → ctrl-&gt;mm_ptr = (void*) mmap(BAR0 物理地址)</a:t>
            </a:r>
          </a:p>
          <a:p>
            <a:r>
              <a:rPr sz="1200" b="0">
                <a:solidFill>
                  <a:srgbClr val="4A5A6A"/>
                </a:solidFill>
                <a:latin typeface="微软雅黑"/>
              </a:rPr>
              <a:t>2. cudaHostRegister(mm_ptr, size, IoMemory)</a:t>
            </a:r>
          </a:p>
          <a:p>
            <a:r>
              <a:rPr sz="1100" b="0">
                <a:solidFill>
                  <a:srgbClr val="1E5A9A"/>
                </a:solidFill>
                <a:latin typeface="微软雅黑"/>
              </a:rPr>
              <a:t>   → 告诉 CUDA：这段 MMIO 可从 GPU 访问</a:t>
            </a:r>
          </a:p>
          <a:p>
            <a:r>
              <a:rPr sz="1200" b="0">
                <a:solidFill>
                  <a:srgbClr val="4A5A6A"/>
                </a:solidFill>
                <a:latin typeface="微软雅黑"/>
              </a:rPr>
              <a:t>3. cudaHostGetDevicePointer(&amp;dev_ptr, sq.db, 0)</a:t>
            </a:r>
          </a:p>
          <a:p>
            <a:r>
              <a:rPr sz="1100" b="0">
                <a:solidFill>
                  <a:srgbClr val="1E5A9A"/>
                </a:solidFill>
                <a:latin typeface="微软雅黑"/>
              </a:rPr>
              <a:t>   → 获取 NVMe SQ 门铃寄存器的 GPU 虚地址</a:t>
            </a:r>
          </a:p>
          <a:p>
            <a:r>
              <a:rPr sz="1200" b="0">
                <a:solidFill>
                  <a:srgbClr val="4A5A6A"/>
                </a:solidFill>
                <a:latin typeface="微软雅黑"/>
              </a:rPr>
              <a:t>4. GPU kernel: *sq.db = sq.tail</a:t>
            </a:r>
          </a:p>
          <a:p>
            <a:r>
              <a:rPr sz="1100" b="0">
                <a:solidFill>
                  <a:srgbClr val="1E5A9A"/>
                </a:solidFill>
                <a:latin typeface="微软雅黑"/>
              </a:rPr>
              <a:t>   → GPU store 写入 PCIe 地址 → NVMe 控制器感知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r>
              <a:rPr sz="1300" b="1">
                <a:solidFill>
                  <a:srgbClr val="1B8A4C"/>
                </a:solidFill>
                <a:latin typeface="微软雅黑"/>
              </a:rPr>
              <a:t>Corex API 状态（已验证声明）：</a:t>
            </a:r>
          </a:p>
          <a:p>
            <a:r>
              <a:rPr sz="1200" b="0">
                <a:solidFill>
                  <a:srgbClr val="1B8A4C"/>
                </a:solidFill>
                <a:latin typeface="微软雅黑"/>
              </a:rPr>
              <a:t>ixHostRegister(ptr, size, flags)  ✅ ix_runtime_api.h L363</a:t>
            </a:r>
          </a:p>
          <a:p>
            <a:r>
              <a:rPr sz="1200" b="0">
                <a:solidFill>
                  <a:srgbClr val="1B8A4C"/>
                </a:solidFill>
                <a:latin typeface="微软雅黑"/>
              </a:rPr>
              <a:t>ixHostRegisterIoMemory = 0x04   ✅ driver_types.h L27</a:t>
            </a:r>
          </a:p>
          <a:p>
            <a:r>
              <a:rPr sz="1200" b="0">
                <a:solidFill>
                  <a:srgbClr val="1B8A4C"/>
                </a:solidFill>
                <a:latin typeface="微软雅黑"/>
              </a:rPr>
              <a:t>ixHostGetDevicePointer(...)      ✅ ix_runtime_api.h L365</a:t>
            </a:r>
          </a:p>
          <a:p>
            <a:r>
              <a:rPr sz="1200" b="0">
                <a:solidFill>
                  <a:srgbClr val="1B8A4C"/>
                </a:solidFill>
                <a:latin typeface="微软雅黑"/>
              </a:rPr>
              <a:t>mapping_cudart.h 全部已映射      ✅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r>
              <a:rPr sz="1300" b="1">
                <a:solidFill>
                  <a:srgbClr val="D67B1E"/>
                </a:solidFill>
                <a:latin typeface="微软雅黑"/>
              </a:rPr>
              <a:t>待验证：runtime 行为是否与 NVIDIA 一致</a:t>
            </a:r>
          </a:p>
          <a:p>
            <a:r>
              <a:rPr sz="1200" b="0">
                <a:solidFill>
                  <a:srgbClr val="D67B1E"/>
                </a:solidFill>
                <a:latin typeface="微软雅黑"/>
              </a:rPr>
              <a:t>即：IX GPU 是否可以通过 PCIe 写入 NVMe BAR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0000" y="580000"/>
            <a:ext cx="5500000" cy="5900000"/>
          </a:xfrm>
          <a:prstGeom prst="rect">
            <a:avLst/>
          </a:prstGeom>
          <a:solidFill>
            <a:srgbClr val="F4F7FA"/>
          </a:solidFill>
          <a:ln w="25400">
            <a:solidFill>
              <a:srgbClr val="1A7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0000" y="660000"/>
            <a:ext cx="53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9A"/>
                </a:solidFill>
                <a:latin typeface="微软雅黑"/>
              </a:rPr>
              <a:t>验证测试程序（第一步就做这个）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50000" y="1060000"/>
            <a:ext cx="5250000" cy="4700000"/>
          </a:xfrm>
          <a:prstGeom prst="rect">
            <a:avLst/>
          </a:prstGeom>
          <a:solidFill>
            <a:srgbClr val="F4F7FA"/>
          </a:solidFill>
          <a:ln w="1270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50000" y="1060000"/>
            <a:ext cx="18000" cy="4700000"/>
          </a:xfrm>
          <a:prstGeom prst="rect">
            <a:avLst/>
          </a:prstGeom>
          <a:solidFill>
            <a:srgbClr val="1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0000" y="1120000"/>
            <a:ext cx="5090000" cy="4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5A9A"/>
                </a:solidFill>
                <a:latin typeface="Consolas"/>
              </a:rPr>
              <a:t>// test_io_memory.cu — 验证 ixHostRegisterIoMemory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#include &lt;cuda_runtime.h&gt;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#include &lt;cstdio&gt;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#include &lt;fcntl.h&gt;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#include &lt;sys/mman.h&gt;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/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__global__ void write_doorbell(volatile uint32_t* db,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                           uint32_t val) {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*db = val;   // GPU 直接写门铃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}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/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int main() {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// 1. 打开 /dev/libnvm0，mmap NVMe BAR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int fd = open("/dev/libnvm0", O_RDWR);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void* bar = mmap(NULL, 0x2000, PROT_READ|PROT_WRITE,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                 MAP_SHARED, fd, 0);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/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// 2. 注册为 IoMemory（关键测试）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cudaError_t err = cudaHostRegister(bar, 0x2000,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    cudaHostRegisterIoMemory);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printf("HostRegister: %s\n", cudaGetErrorString(err));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/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// 3. 获取 GPU 侧指针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volatile uint32_t* db_gpu = nullptr;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cudaHostGetDevicePointer((void**)&amp;db_gpu,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    (void*)((uint8_t*)bar + 0x1000), 0);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/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// 4. GPU kernel 写门铃（核心验证）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write_doorbell&lt;&lt;&lt;1,1&gt;&gt;&gt;(db_gpu, 1);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cudaDeviceSynchronize();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printf("GPU doorbell write: OK\n");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return 0;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50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80000"/>
            <a:ext cx="12191365" cy="5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80000"/>
            <a:ext cx="11391365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适配项 ⑤ — libnvm.ko GPU DMA 注册（最大挑战）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6395000"/>
            <a:ext cx="11391365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AA"/>
                </a:solidFill>
                <a:latin typeface="微软雅黑"/>
              </a:rPr>
              <a:t>Replacing nvidia_p2p_* with Corex GPU P2P mechanism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00" y="580000"/>
            <a:ext cx="5700000" cy="2600000"/>
          </a:xfrm>
          <a:prstGeom prst="rect">
            <a:avLst/>
          </a:prstGeom>
          <a:solidFill>
            <a:srgbClr val="FDEDE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0000"/>
            <a:ext cx="55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微软雅黑"/>
              </a:rPr>
              <a:t>问题：GPU 内存作为 NVMe DMA 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1020000"/>
            <a:ext cx="55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A5A6A"/>
                </a:solidFill>
                <a:latin typeface="微软雅黑"/>
              </a:rPr>
              <a:t>BaM page_cache_t 分配 GPU 显存作为 page buffer</a:t>
            </a:r>
          </a:p>
          <a:p>
            <a:r>
              <a:rPr sz="1200" b="0">
                <a:solidFill>
                  <a:srgbClr val="4A5A6A"/>
                </a:solidFill>
                <a:latin typeface="微软雅黑"/>
              </a:rPr>
              <a:t>NVMe READ 命令的目标地址 = GPU 显存 bus 地址</a:t>
            </a:r>
          </a:p>
          <a:p>
            <a:r>
              <a:rPr sz="1200" b="0">
                <a:solidFill>
                  <a:srgbClr val="4A5A6A"/>
                </a:solidFill>
                <a:latin typeface="微软雅黑"/>
              </a:rPr>
              <a:t>要求：GPU 物理页可被 NVMe 控制器 PCIe DMA 写入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r>
              <a:rPr sz="1200" b="1">
                <a:solidFill>
                  <a:srgbClr val="C0392B"/>
                </a:solidFill>
                <a:latin typeface="微软雅黑"/>
              </a:rPr>
              <a:t>NVIDIA 实现（nv-p2p.h 内核 API）：</a:t>
            </a:r>
          </a:p>
          <a:p>
            <a:r>
              <a:rPr sz="1100" b="0">
                <a:solidFill>
                  <a:srgbClr val="C0392B"/>
                </a:solidFill>
                <a:latin typeface="微软雅黑"/>
              </a:rPr>
              <a:t>nvidia_p2p_get_pages(va, size, &amp;pages)  // 锁定 GPU 物理页</a:t>
            </a:r>
          </a:p>
          <a:p>
            <a:r>
              <a:rPr sz="1100" b="0">
                <a:solidFill>
                  <a:srgbClr val="C0392B"/>
                </a:solidFill>
                <a:latin typeface="微软雅黑"/>
              </a:rPr>
              <a:t>nvidia_p2p_dma_map_pages(pdev, pages, &amp;dma)  // 获取 DMA 地址</a:t>
            </a:r>
          </a:p>
          <a:p>
            <a:r>
              <a:rPr sz="1100" b="0">
                <a:solidFill>
                  <a:srgbClr val="C0392B"/>
                </a:solidFill>
                <a:latin typeface="微软雅黑"/>
              </a:rPr>
              <a:t>dma-&gt;dma_addresses[i]  // 给 NVMe PRP 的 bus 地址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000" y="3300000"/>
            <a:ext cx="5700000" cy="3100000"/>
          </a:xfrm>
          <a:prstGeom prst="rect">
            <a:avLst/>
          </a:prstGeom>
          <a:solidFill>
            <a:srgbClr val="F5FBFF"/>
          </a:solidFill>
          <a:ln w="25400">
            <a:solidFill>
              <a:srgbClr val="1A7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3380000"/>
            <a:ext cx="55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7A9A"/>
                </a:solidFill>
                <a:latin typeface="微软雅黑"/>
              </a:rPr>
              <a:t>Corex 两种替换方案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3760000"/>
            <a:ext cx="55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7A9A"/>
                </a:solidFill>
                <a:latin typeface="微软雅黑"/>
              </a:rPr>
              <a:t>方案 A（推荐先试）：gdrapi.h 用户态路径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1. ixdrvPointerGetAttributes(P2P_TOKENS, &amp;tok, gpu_ptr)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2. gdr_open() + gdr_pin_buffer(tok, va_space)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3. gdr_get_info() 获取物理/bus 地址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4. nvm_dma_map(addrs[]) 直接传 bus 地址（绕过内核模块）</a:t>
            </a:r>
          </a:p>
          <a:p>
            <a:r>
              <a:rPr sz="1100" b="0">
                <a:solidFill>
                  <a:srgbClr val="D67B1E"/>
                </a:solidFill>
                <a:latin typeface="微软雅黑"/>
              </a:rPr>
              <a:t>风险：Corex IX GPU 物理地址是否等于 PCIe bus 地址？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r>
              <a:rPr sz="1200" b="1">
                <a:solidFill>
                  <a:srgbClr val="1A7A9A"/>
                </a:solidFill>
                <a:latin typeface="微软雅黑"/>
              </a:rPr>
              <a:t>方案 B（最干净）：请 Iluvatar 提供 ix-p2p.h 内核 API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内核中替换 nvidia_p2p_get_pages() → ix_p2p_get_pages()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nvidia_p2p_dma_map_pages() → ix_p2p_dma_map_pages()</a:t>
            </a:r>
          </a:p>
          <a:p>
            <a:r>
              <a:rPr sz="1100" b="0">
                <a:solidFill>
                  <a:srgbClr val="D67B1E"/>
                </a:solidFill>
                <a:latin typeface="微软雅黑"/>
              </a:rPr>
              <a:t>需要 Iluvatar 内核驱动团队支持（1~2 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580000"/>
            <a:ext cx="5500000" cy="5900000"/>
          </a:xfrm>
          <a:prstGeom prst="rect">
            <a:avLst/>
          </a:prstGeom>
          <a:solidFill>
            <a:srgbClr val="F4F7FA"/>
          </a:solidFill>
          <a:ln w="25400">
            <a:solidFill>
              <a:srgbClr val="D6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0000" y="650000"/>
            <a:ext cx="53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67B1E"/>
                </a:solidFill>
                <a:latin typeface="微软雅黑"/>
              </a:rPr>
              <a:t>方案 A 实现框架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50000" y="1030000"/>
            <a:ext cx="5250000" cy="5250000"/>
          </a:xfrm>
          <a:prstGeom prst="rect">
            <a:avLst/>
          </a:prstGeom>
          <a:solidFill>
            <a:srgbClr val="F4F7FA"/>
          </a:solidFill>
          <a:ln w="1270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50000" y="1030000"/>
            <a:ext cx="18000" cy="5250000"/>
          </a:xfrm>
          <a:prstGeom prst="rect">
            <a:avLst/>
          </a:prstGeom>
          <a:solidFill>
            <a:srgbClr val="1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0000" y="1090000"/>
            <a:ext cx="5090000" cy="5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5A9A"/>
                </a:solidFill>
                <a:latin typeface="Consolas"/>
              </a:rPr>
              <a:t>// libnvm_corex.c — 替换 #ifdef _CUDA 部分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// (userspace path via gdrapi.h)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#include "gdrapi.h"   // Corex GDR API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/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int map_gpu_memory_corex(struct map* map,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struct list* ctrl_list)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{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// Step1: 获取 GPU 内存物理 bus 地址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// (用户态事先通过 gdrapi 获取并传入)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// map-&gt;vaddr = GPU VA (ixMalloc 分配)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// map-&gt;addrs[] 已由用户态填充 bus addresses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/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// Step2: 注册为 NVMe DMA 目标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// 直接使用传入的 bus 地址构造 DMA 映射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// (无需内核态 nv-p2p, bus 地址由用户态通过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//  gdr_pin_buffer + gdr_get_info 获取)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/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return 0;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}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/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// 用户态侧（buffer.h 修改）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// 获取 GPU 内存的 bus 地址（Corex方式）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void get_gpu_bus_addrs(void* gpu_ptr,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                   size_t size,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                   uint64_t* bus_addrs,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                   int n_pages)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{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IXDRVresult res;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IX_POINTER_ATTRIBUTE_P2P_TOKENS tokens;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res = ixdrvPointerGetAttributes(1,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    IXDRV_POINTER_ATTRIBUTE_P2P_TOKENS,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    &amp;tokens, (CUdeviceptr)gpu_ptr);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gdr_t g = gdr_open();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gdr_mh_t handle;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gdr_pin_buffer(g, (ulong)gpu_ptr, size,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    tokens.p2pToken,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    tokens.vaSpace, &amp;handle);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gdr_info_t info;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gdr_get_info_v2(g, handle, &amp;info);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// info.va = mapped VA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    // 从 info 计算各页 bus 地址填入 bus_addrs[]</a:t>
            </a:r>
          </a:p>
          <a:p>
            <a:r>
              <a:rPr sz="1100" b="0">
                <a:solidFill>
                  <a:srgbClr val="1E5A9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0000" y="3423000"/>
            <a:ext cx="11991365" cy="10000"/>
          </a:xfrm>
          <a:prstGeom prst="rect">
            <a:avLst/>
          </a:prstGeom>
          <a:solidFill>
            <a:srgbClr val="1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0000" y="1700000"/>
            <a:ext cx="35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51B9D6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3200000"/>
            <a:ext cx="11491365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/>
              </a:rPr>
              <a:t>适配后完整架构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000" y="4200000"/>
            <a:ext cx="1149136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B5D5"/>
                </a:solidFill>
                <a:latin typeface="微软雅黑"/>
              </a:rPr>
              <a:t>Post-adaptation architecture — bam_ptr native on Corex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50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80000"/>
            <a:ext cx="12191365" cy="5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80000"/>
            <a:ext cx="11391365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适配后架构 — bam_ptr Corex 版全景图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6395000"/>
            <a:ext cx="11391365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AA"/>
                </a:solidFill>
                <a:latin typeface="微软雅黑"/>
              </a:rPr>
              <a:t>Every layer adapted, bam_ptr semantics fully preserved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365" cy="50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380000"/>
            <a:ext cx="12191365" cy="5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00" y="80000"/>
            <a:ext cx="11391365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适配后架构 — bam_ptr Corex 版全景图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0000" y="580000"/>
            <a:ext cx="11691365" cy="1018000"/>
          </a:xfrm>
          <a:prstGeom prst="rect">
            <a:avLst/>
          </a:prstGeom>
          <a:solidFill>
            <a:srgbClr val="E8F8F0"/>
          </a:solidFill>
          <a:ln w="25400">
            <a:solidFill>
              <a:srgbClr val="1B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0000" y="580000"/>
            <a:ext cx="380000" cy="1018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0000" y="909000"/>
            <a:ext cx="31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无需修改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66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8A4C"/>
                </a:solidFill>
                <a:latin typeface="微软雅黑"/>
              </a:rPr>
              <a:t>Python 训练层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1000000"/>
            <a:ext cx="3000000" cy="5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A6A"/>
                </a:solidFill>
                <a:latin typeface="微软雅黑"/>
              </a:rPr>
              <a:t>• GIDS.py / GIDS_DGLDataLoader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• homogenous_train.py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0000" y="660000"/>
            <a:ext cx="7000000" cy="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A6A"/>
                </a:solidFill>
                <a:latin typeface="微软雅黑"/>
              </a:rPr>
              <a:t>• 调用方式不变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• import BAM_Feature_Store as BFS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0000" y="1608000"/>
            <a:ext cx="11691365" cy="1018000"/>
          </a:xfrm>
          <a:prstGeom prst="rect">
            <a:avLst/>
          </a:prstGeom>
          <a:solidFill>
            <a:srgbClr val="E8F0FB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0000" y="1608000"/>
            <a:ext cx="380000" cy="101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0000" y="1937000"/>
            <a:ext cx="31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CMake 适配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1688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86C1"/>
                </a:solidFill>
                <a:latin typeface="微软雅黑"/>
              </a:rPr>
              <a:t>pybind11 绑定层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2028000"/>
            <a:ext cx="3000000" cy="5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A6A"/>
                </a:solidFill>
                <a:latin typeface="微软雅黑"/>
              </a:rPr>
              <a:t>• BAM_Feature_Store.so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• BAM_Feature_Store&lt;float/half/long&gt;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0000" y="1688000"/>
            <a:ext cx="7000000" cy="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A6A"/>
                </a:solidFill>
                <a:latin typeface="微软雅黑"/>
              </a:rPr>
              <a:t>• pybind11 编译改为 ixc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• CMakeLists.txt 适配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91365" y="1937000"/>
            <a:ext cx="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86C1"/>
                </a:solidFill>
                <a:latin typeface="微软雅黑"/>
              </a:rPr>
              <a:t>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0000" y="2636000"/>
            <a:ext cx="11691365" cy="1018000"/>
          </a:xfrm>
          <a:prstGeom prst="rect">
            <a:avLst/>
          </a:prstGeom>
          <a:solidFill>
            <a:srgbClr val="E8F6FD"/>
          </a:solidFill>
          <a:ln w="25400">
            <a:solidFill>
              <a:srgbClr val="1A7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0000" y="2636000"/>
            <a:ext cx="380000" cy="1018000"/>
          </a:xfrm>
          <a:prstGeom prst="rect">
            <a:avLst/>
          </a:prstGeom>
          <a:solidFill>
            <a:srgbClr val="1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0000" y="2965000"/>
            <a:ext cx="31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①②③④修复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" y="2716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A9A"/>
                </a:solidFill>
                <a:latin typeface="微软雅黑"/>
              </a:rPr>
              <a:t>BaM C++/CUDA 核心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00" y="3056000"/>
            <a:ext cx="3000000" cy="5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A6A"/>
                </a:solidFill>
                <a:latin typeface="微软雅黑"/>
              </a:rPr>
              <a:t>• page_cache_t（simt→cuda 修复）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• bam_ptr&lt;T&gt;（无需修改）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0000" y="2716000"/>
            <a:ext cx="7000000" cy="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A6A"/>
                </a:solidFill>
                <a:latin typeface="微软雅黑"/>
              </a:rPr>
              <a:t>• gids_kernel.cu（&lt;&lt;&lt;&gt;&gt;&gt; 不变）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• Controller（cudaHostRegisterIoMemory）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91365" y="2965000"/>
            <a:ext cx="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7A9A"/>
                </a:solidFill>
                <a:latin typeface="微软雅黑"/>
              </a:rPr>
              <a:t>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0000" y="3664000"/>
            <a:ext cx="11691365" cy="1018000"/>
          </a:xfrm>
          <a:prstGeom prst="rect">
            <a:avLst/>
          </a:prstGeom>
          <a:solidFill>
            <a:srgbClr val="FEF5E7"/>
          </a:solidFill>
          <a:ln w="25400">
            <a:solidFill>
              <a:srgbClr val="D6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0000" y="3664000"/>
            <a:ext cx="380000" cy="1018000"/>
          </a:xfrm>
          <a:prstGeom prst="rect">
            <a:avLst/>
          </a:prstGeom>
          <a:solidFill>
            <a:srgbClr val="D6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0000" y="3993000"/>
            <a:ext cx="31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⑤替换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000" y="3744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7B1E"/>
                </a:solidFill>
                <a:latin typeface="微软雅黑"/>
              </a:rPr>
              <a:t>libnvm 用户态库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000" y="4084000"/>
            <a:ext cx="3000000" cy="5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A6A"/>
                </a:solidFill>
                <a:latin typeface="微软雅黑"/>
              </a:rPr>
              <a:t>• libnvm.so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• nvm_ctrl_init / nvm_dma_map_host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0000" y="3744000"/>
            <a:ext cx="7000000" cy="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A6A"/>
                </a:solidFill>
                <a:latin typeface="微软雅黑"/>
              </a:rPr>
              <a:t>• A+B部分编译（去掉-D_CUDA）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• C部分替换为 gdrapi.h 路径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91365" y="3993000"/>
            <a:ext cx="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67B1E"/>
                </a:solidFill>
                <a:latin typeface="微软雅黑"/>
              </a:rPr>
              <a:t>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0000" y="4692000"/>
            <a:ext cx="11691365" cy="1018000"/>
          </a:xfrm>
          <a:prstGeom prst="rect">
            <a:avLst/>
          </a:prstGeom>
          <a:solidFill>
            <a:srgbClr val="FDEDE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0000" y="4692000"/>
            <a:ext cx="380000" cy="101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0000" y="5021000"/>
            <a:ext cx="31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⑥P2P替换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000" y="4772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微软雅黑"/>
              </a:rPr>
              <a:t>libnvm.ko 内核模块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0000" y="5112000"/>
            <a:ext cx="3000000" cy="5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A6A"/>
                </a:solidFill>
                <a:latin typeface="微软雅黑"/>
              </a:rPr>
              <a:t>• NVMe PCI BAR mmap（不变）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• 主机内存 DMA 注册（不变）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0000" y="4772000"/>
            <a:ext cx="7000000" cy="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A6A"/>
                </a:solidFill>
                <a:latin typeface="微软雅黑"/>
              </a:rPr>
              <a:t>• GPU DMA 注册改用 Corex P2P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• 编译目标：Linux 5.4 + Corex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91365" y="5021000"/>
            <a:ext cx="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微软雅黑"/>
              </a:rPr>
              <a:t>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0000" y="5720000"/>
            <a:ext cx="11691365" cy="1018000"/>
          </a:xfrm>
          <a:prstGeom prst="rect">
            <a:avLst/>
          </a:prstGeom>
          <a:solidFill>
            <a:srgbClr val="E8F6FD"/>
          </a:solidFill>
          <a:ln w="25400">
            <a:solidFill>
              <a:srgbClr val="0D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50000" y="5720000"/>
            <a:ext cx="380000" cy="1018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0000" y="6049000"/>
            <a:ext cx="31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硬件支持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0000" y="580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F35"/>
                </a:solidFill>
                <a:latin typeface="微软雅黑"/>
              </a:rPr>
              <a:t>硬件层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0000" y="6140000"/>
            <a:ext cx="3000000" cy="5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A6A"/>
                </a:solidFill>
                <a:latin typeface="微软雅黑"/>
              </a:rPr>
              <a:t>• IX GPU（Corex CUDA 兼容）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• NVMe SSD（/dev/libnvm0..N）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00000" y="5800000"/>
            <a:ext cx="7000000" cy="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A6A"/>
                </a:solidFill>
                <a:latin typeface="微软雅黑"/>
              </a:rPr>
              <a:t>• ixHostRegisterIoMemory 映射 BAR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• GPU 显存 PCIe P2P DMA 接收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91365" y="6049000"/>
            <a:ext cx="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F35"/>
                </a:solidFill>
                <a:latin typeface="微软雅黑"/>
              </a:rPr>
              <a:t>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0000" y="3423000"/>
            <a:ext cx="11991365" cy="10000"/>
          </a:xfrm>
          <a:prstGeom prst="rect">
            <a:avLst/>
          </a:prstGeom>
          <a:solidFill>
            <a:srgbClr val="1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0000" y="1700000"/>
            <a:ext cx="35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51B9D6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3200000"/>
            <a:ext cx="11491365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/>
              </a:rPr>
              <a:t>工作流程与里程碑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000" y="4200000"/>
            <a:ext cx="1149136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B5D5"/>
                </a:solidFill>
                <a:latin typeface="微软雅黑"/>
              </a:rPr>
              <a:t>Step-by-step implementation plan with milestones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50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80000"/>
            <a:ext cx="12191365" cy="5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80000"/>
            <a:ext cx="11391365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工作流程甘特图 — bam_ptr 原生适配完整计划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6395000"/>
            <a:ext cx="11391365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AA"/>
                </a:solidFill>
                <a:latin typeface="微软雅黑"/>
              </a:rPr>
              <a:t>6-week implementation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365" cy="50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380000"/>
            <a:ext cx="12191365" cy="5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00" y="80000"/>
            <a:ext cx="11391365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工作流程甘特图 — bam_ptr 原生适配完整计划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0000" y="580000"/>
            <a:ext cx="900000" cy="42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000" y="660000"/>
            <a:ext cx="87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任务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000" y="580000"/>
            <a:ext cx="1788560" cy="42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0000" y="630000"/>
            <a:ext cx="17385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D1-3
验证期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78560" y="580000"/>
            <a:ext cx="1788560" cy="42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98560" y="630000"/>
            <a:ext cx="17385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W1
基础适配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7120" y="580000"/>
            <a:ext cx="1788560" cy="42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7120" y="630000"/>
            <a:ext cx="17385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W2
模块编译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680" y="580000"/>
            <a:ext cx="1788560" cy="42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5680" y="630000"/>
            <a:ext cx="17385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W3
集成测试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74240" y="580000"/>
            <a:ext cx="1788560" cy="42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94240" y="630000"/>
            <a:ext cx="17385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W4
功能验证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72800" y="580000"/>
            <a:ext cx="1788560" cy="42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92800" y="630000"/>
            <a:ext cx="17385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W5-6
性能优化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0000" y="1040000"/>
            <a:ext cx="900000" cy="820000"/>
          </a:xfrm>
          <a:prstGeom prst="rect">
            <a:avLst/>
          </a:prstGeom>
          <a:solidFill>
            <a:srgbClr val="F8FCFF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0000" y="1140000"/>
            <a:ext cx="87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9BAA"/>
                </a:solidFill>
                <a:latin typeface="微软雅黑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80000" y="1120000"/>
            <a:ext cx="1783560" cy="66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40000" y="1180000"/>
            <a:ext cx="166356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① simt::atomic → cuda::atomic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91360" y="1240000"/>
            <a:ext cx="1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BAA"/>
                </a:solidFill>
                <a:latin typeface="微软雅黑"/>
              </a:rPr>
              <a:t>sed 替换，编译验证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0000" y="1870000"/>
            <a:ext cx="900000" cy="8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0000" y="1970000"/>
            <a:ext cx="87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9BAA"/>
                </a:solidFill>
                <a:latin typeface="微软雅黑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0000" y="1950000"/>
            <a:ext cx="1783560" cy="66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40000" y="2010000"/>
            <a:ext cx="166356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② &lt;&lt;&lt;&gt;&gt;&gt;语法 + CUDA RT API 验证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91360" y="2070000"/>
            <a:ext cx="1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BAA"/>
                </a:solidFill>
                <a:latin typeface="微软雅黑"/>
              </a:rPr>
              <a:t>已确认，无修改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0000" y="2700000"/>
            <a:ext cx="900000" cy="820000"/>
          </a:xfrm>
          <a:prstGeom prst="rect">
            <a:avLst/>
          </a:prstGeom>
          <a:solidFill>
            <a:srgbClr val="F8FCFF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0000" y="2800000"/>
            <a:ext cx="87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9BAA"/>
                </a:solidFill>
                <a:latin typeface="微软雅黑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80000" y="2780000"/>
            <a:ext cx="1783560" cy="66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40000" y="2840000"/>
            <a:ext cx="166356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③ cuda_err_chk 宏适配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091360" y="2900000"/>
            <a:ext cx="1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BAA"/>
                </a:solidFill>
                <a:latin typeface="微软雅黑"/>
              </a:rPr>
              <a:t>宏重定义，0.5天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0000" y="3530000"/>
            <a:ext cx="900000" cy="8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0000" y="3630000"/>
            <a:ext cx="87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9BAA"/>
                </a:solidFill>
                <a:latin typeface="微软雅黑"/>
              </a:rPr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78560" y="3610000"/>
            <a:ext cx="1783560" cy="66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38560" y="3670000"/>
            <a:ext cx="166356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⑤ libnvm.ko A+B 编译（无CUDA）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091360" y="3730000"/>
            <a:ext cx="1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BAA"/>
                </a:solidFill>
                <a:latin typeface="微软雅黑"/>
              </a:rPr>
              <a:t>Linux 5.4 kernel build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0000" y="4360000"/>
            <a:ext cx="900000" cy="820000"/>
          </a:xfrm>
          <a:prstGeom prst="rect">
            <a:avLst/>
          </a:prstGeom>
          <a:solidFill>
            <a:srgbClr val="F8FCFF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0000" y="4460000"/>
            <a:ext cx="87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9BAA"/>
                </a:solidFill>
                <a:latin typeface="微软雅黑"/>
              </a:rPr>
              <a:t>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80000" y="4440000"/>
            <a:ext cx="3582120" cy="660000"/>
          </a:xfrm>
          <a:prstGeom prst="rect">
            <a:avLst/>
          </a:prstGeom>
          <a:solidFill>
            <a:srgbClr val="D6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40000" y="4500000"/>
            <a:ext cx="346212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④ cudaHostRegisterIoMemory 验证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091360" y="4560000"/>
            <a:ext cx="1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BAA"/>
                </a:solidFill>
                <a:latin typeface="微软雅黑"/>
              </a:rPr>
              <a:t>test_io_memory.cu 测试程序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0000" y="5190000"/>
            <a:ext cx="900000" cy="8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0000" y="5290000"/>
            <a:ext cx="87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9BAA"/>
                </a:solidFill>
                <a:latin typeface="微软雅黑"/>
              </a:rPr>
              <a:t>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78560" y="5270000"/>
            <a:ext cx="1783560" cy="66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38560" y="5330000"/>
            <a:ext cx="166356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BaM 源码 ixc 编译调试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091360" y="5390000"/>
            <a:ext cx="1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BAA"/>
                </a:solidFill>
                <a:latin typeface="微软雅黑"/>
              </a:rPr>
              <a:t>page_cache_t + Controller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0000" y="6020000"/>
            <a:ext cx="900000" cy="820000"/>
          </a:xfrm>
          <a:prstGeom prst="rect">
            <a:avLst/>
          </a:prstGeom>
          <a:solidFill>
            <a:srgbClr val="F8FCFF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0000" y="6120000"/>
            <a:ext cx="87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9BAA"/>
                </a:solidFill>
                <a:latin typeface="微软雅黑"/>
              </a:rPr>
              <a:t>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77120" y="6100000"/>
            <a:ext cx="1783560" cy="660000"/>
          </a:xfrm>
          <a:prstGeom prst="rect">
            <a:avLst/>
          </a:prstGeom>
          <a:solidFill>
            <a:srgbClr val="1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37120" y="6160000"/>
            <a:ext cx="166356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libnvm.so 库链接验证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091360" y="6220000"/>
            <a:ext cx="1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BAA"/>
                </a:solidFill>
                <a:latin typeface="微软雅黑"/>
              </a:rPr>
              <a:t>用户态 NVMe 访问测试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0000" y="6850000"/>
            <a:ext cx="900000" cy="8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90000" y="6950000"/>
            <a:ext cx="87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9BAA"/>
                </a:solidFill>
                <a:latin typeface="微软雅黑"/>
              </a:rPr>
              <a:t>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78560" y="6930000"/>
            <a:ext cx="5380680" cy="66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38560" y="6990000"/>
            <a:ext cx="526068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⑥ GPU DMA注册 gdrapi 实现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091360" y="7050000"/>
            <a:ext cx="1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BAA"/>
                </a:solidFill>
                <a:latin typeface="微软雅黑"/>
              </a:rPr>
              <a:t>方案A：gdrapi.h 替换路径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0000" y="7680000"/>
            <a:ext cx="900000" cy="820000"/>
          </a:xfrm>
          <a:prstGeom prst="rect">
            <a:avLst/>
          </a:prstGeom>
          <a:solidFill>
            <a:srgbClr val="F8FCFF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0000" y="7780000"/>
            <a:ext cx="87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9BAA"/>
                </a:solidFill>
                <a:latin typeface="微软雅黑"/>
              </a:rPr>
              <a:t>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78560" y="7760000"/>
            <a:ext cx="5380680" cy="66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38560" y="7820000"/>
            <a:ext cx="526068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方案B备选：ix-p2p.h 内核API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091360" y="7880000"/>
            <a:ext cx="1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BAA"/>
                </a:solidFill>
                <a:latin typeface="微软雅黑"/>
              </a:rPr>
              <a:t>需Iluvatar驱动团队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0000" y="8510000"/>
            <a:ext cx="900000" cy="8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90000" y="8610000"/>
            <a:ext cx="87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9BAA"/>
                </a:solidFill>
                <a:latin typeface="微软雅黑"/>
              </a:rPr>
              <a:t>10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75680" y="8590000"/>
            <a:ext cx="1783560" cy="660000"/>
          </a:xfrm>
          <a:prstGeom prst="rect">
            <a:avLst/>
          </a:prstGeom>
          <a:solidFill>
            <a:srgbClr val="D6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735680" y="8650000"/>
            <a:ext cx="166356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Controller 端到端初始化测试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091360" y="8710000"/>
            <a:ext cx="1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BAA"/>
                </a:solidFill>
                <a:latin typeface="微软雅黑"/>
              </a:rPr>
              <a:t>打开/dev/libnvm0，初始化队列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80000" y="9340000"/>
            <a:ext cx="900000" cy="820000"/>
          </a:xfrm>
          <a:prstGeom prst="rect">
            <a:avLst/>
          </a:prstGeom>
          <a:solidFill>
            <a:srgbClr val="F8FCFF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90000" y="9440000"/>
            <a:ext cx="87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9BAA"/>
                </a:solidFill>
                <a:latin typeface="微软雅黑"/>
              </a:rPr>
              <a:t>11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675680" y="9420000"/>
            <a:ext cx="1783560" cy="660000"/>
          </a:xfrm>
          <a:prstGeom prst="rect">
            <a:avLst/>
          </a:prstGeom>
          <a:solidFill>
            <a:srgbClr val="1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735680" y="9480000"/>
            <a:ext cx="166356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bam_ptr 单次 NVMe 读取测试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091360" y="9540000"/>
            <a:ext cx="1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BAA"/>
                </a:solidFill>
                <a:latin typeface="微软雅黑"/>
              </a:rPr>
              <a:t>最小可行验证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0000" y="10170000"/>
            <a:ext cx="900000" cy="8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90000" y="10270000"/>
            <a:ext cx="87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9BAA"/>
                </a:solidFill>
                <a:latin typeface="微软雅黑"/>
              </a:rPr>
              <a:t>12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474240" y="10250000"/>
            <a:ext cx="1783560" cy="66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534240" y="10310000"/>
            <a:ext cx="166356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page_cache_t 端到端功能测试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091360" y="10370000"/>
            <a:ext cx="1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BAA"/>
                </a:solidFill>
                <a:latin typeface="微软雅黑"/>
              </a:rPr>
              <a:t>多页并发，LRU 淘汰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80000" y="11000000"/>
            <a:ext cx="900000" cy="820000"/>
          </a:xfrm>
          <a:prstGeom prst="rect">
            <a:avLst/>
          </a:prstGeom>
          <a:solidFill>
            <a:srgbClr val="F8FCFF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90000" y="11100000"/>
            <a:ext cx="87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9BAA"/>
                </a:solidFill>
                <a:latin typeface="微软雅黑"/>
              </a:rPr>
              <a:t>13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474240" y="11080000"/>
            <a:ext cx="1783560" cy="660000"/>
          </a:xfrm>
          <a:prstGeom prst="rect">
            <a:avLst/>
          </a:prstGeom>
          <a:solidFill>
            <a:srgbClr val="1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534240" y="11140000"/>
            <a:ext cx="166356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gids_kernel 集成测试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2091360" y="11200000"/>
            <a:ext cx="1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BAA"/>
                </a:solidFill>
                <a:latin typeface="微软雅黑"/>
              </a:rPr>
              <a:t>read_feature_kernel 正确性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0000" y="11830000"/>
            <a:ext cx="900000" cy="8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90000" y="11930000"/>
            <a:ext cx="87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9BAA"/>
                </a:solidFill>
                <a:latin typeface="微软雅黑"/>
              </a:rPr>
              <a:t>14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272800" y="11910000"/>
            <a:ext cx="1783560" cy="66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332800" y="11970000"/>
            <a:ext cx="166356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性能基准测试（vs cuFile路线）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091360" y="12030000"/>
            <a:ext cx="1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BAA"/>
                </a:solidFill>
                <a:latin typeface="微软雅黑"/>
              </a:rPr>
              <a:t>吞吐量/延迟对比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50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80000"/>
            <a:ext cx="12191365" cy="5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80000"/>
            <a:ext cx="11391365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阶段验证计划 — 从最小验证到端到端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6395000"/>
            <a:ext cx="11391365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AA"/>
                </a:solidFill>
                <a:latin typeface="微软雅黑"/>
              </a:rPr>
              <a:t>Incremental validation strategy — each gate blocks next phase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00" y="580000"/>
            <a:ext cx="2298273" cy="5900000"/>
          </a:xfrm>
          <a:prstGeom prst="rect">
            <a:avLst/>
          </a:prstGeom>
          <a:solidFill>
            <a:srgbClr val="FEF5E7"/>
          </a:solidFill>
          <a:ln w="31750">
            <a:solidFill>
              <a:srgbClr val="D6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000" y="580000"/>
            <a:ext cx="2298273" cy="420000"/>
          </a:xfrm>
          <a:prstGeom prst="rect">
            <a:avLst/>
          </a:prstGeom>
          <a:solidFill>
            <a:srgbClr val="D6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0000" y="600000"/>
            <a:ext cx="2218273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Gate 1
D1~D3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00" y="1070000"/>
            <a:ext cx="2198273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67B1E"/>
                </a:solidFill>
                <a:latin typeface="微软雅黑"/>
              </a:rPr>
              <a:t>IoMemory 运行时验证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000" y="1430000"/>
            <a:ext cx="2198273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5A6A"/>
                </a:solidFill>
                <a:latin typeface="微软雅黑"/>
              </a:rPr>
              <a:t>• 运行 test_io_memory.cu 测试程序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确认 ixHostRegister(IoMemory) 无报错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确认 GPU warp 写门铃不崩溃/不 hang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验证 NVMe 能收到 doorbell 信号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000" y="3600000"/>
            <a:ext cx="219827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F35"/>
                </a:solidFill>
                <a:latin typeface="微软雅黑"/>
              </a:rPr>
              <a:t>结果分支：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000" y="3870000"/>
            <a:ext cx="2198273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B8A4C"/>
                </a:solidFill>
                <a:latin typeface="微软雅黑"/>
              </a:rPr>
              <a:t>Pass → 继续 Gate 2</a:t>
            </a:r>
          </a:p>
          <a:p>
            <a:r>
              <a:rPr sz="1000" b="0">
                <a:solidFill>
                  <a:srgbClr val="C0392B"/>
                </a:solidFill>
                <a:latin typeface="微软雅黑"/>
              </a:rPr>
              <a:t>Fail → 联系 Iluvatar 运行时团队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00" y="4800000"/>
            <a:ext cx="2198273" cy="280000"/>
          </a:xfrm>
          <a:prstGeom prst="rect">
            <a:avLst/>
          </a:prstGeom>
          <a:solidFill>
            <a:srgbClr val="E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0000" y="4830000"/>
            <a:ext cx="217827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F35"/>
                </a:solidFill>
                <a:latin typeface="微软雅黑"/>
              </a:rPr>
              <a:t>🔧 测试程序：test_io_memory.cu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8273" y="580000"/>
            <a:ext cx="2298273" cy="5900000"/>
          </a:xfrm>
          <a:prstGeom prst="rect">
            <a:avLst/>
          </a:prstGeom>
          <a:solidFill>
            <a:srgbClr val="E8F8F0"/>
          </a:solidFill>
          <a:ln w="31750">
            <a:solidFill>
              <a:srgbClr val="1B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58273" y="580000"/>
            <a:ext cx="2298273" cy="42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8273" y="600000"/>
            <a:ext cx="2218273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Gate 2
W1~W2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8273" y="1070000"/>
            <a:ext cx="2198273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8A4C"/>
                </a:solidFill>
                <a:latin typeface="微软雅黑"/>
              </a:rPr>
              <a:t>libnvm + BaM 源码编译通过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8273" y="1430000"/>
            <a:ext cx="2198273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5A6A"/>
                </a:solidFill>
                <a:latin typeface="微软雅黑"/>
              </a:rPr>
              <a:t>• libnvm.ko 在 Linux 5.4 下编译通过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BaM 所有头文件 ixc 编译无错误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Controller 构造函数无运行时异常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QueuePair 初始化，门铃指针有效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08273" y="3600000"/>
            <a:ext cx="219827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F35"/>
                </a:solidFill>
                <a:latin typeface="微软雅黑"/>
              </a:rPr>
              <a:t>结果分支：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08273" y="3870000"/>
            <a:ext cx="2198273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B8A4C"/>
                </a:solidFill>
                <a:latin typeface="微软雅黑"/>
              </a:rPr>
              <a:t>Pass → 继续 Gate 3</a:t>
            </a:r>
          </a:p>
          <a:p>
            <a:r>
              <a:rPr sz="1000" b="0">
                <a:solidFill>
                  <a:srgbClr val="C0392B"/>
                </a:solidFill>
                <a:latin typeface="微软雅黑"/>
              </a:rPr>
              <a:t>Fail → debug simt→cuda 遗漏项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08273" y="4800000"/>
            <a:ext cx="2198273" cy="280000"/>
          </a:xfrm>
          <a:prstGeom prst="rect">
            <a:avLst/>
          </a:prstGeom>
          <a:solidFill>
            <a:srgbClr val="E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18273" y="4830000"/>
            <a:ext cx="217827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F35"/>
                </a:solidFill>
                <a:latin typeface="微软雅黑"/>
              </a:rPr>
              <a:t>🔧 make -j4 + ixc 编译测试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66546" y="580000"/>
            <a:ext cx="2298273" cy="5900000"/>
          </a:xfrm>
          <a:prstGeom prst="rect">
            <a:avLst/>
          </a:prstGeom>
          <a:solidFill>
            <a:srgbClr val="E8F6FD"/>
          </a:solidFill>
          <a:ln w="31750">
            <a:solidFill>
              <a:srgbClr val="1A7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66546" y="580000"/>
            <a:ext cx="2298273" cy="420000"/>
          </a:xfrm>
          <a:prstGeom prst="rect">
            <a:avLst/>
          </a:prstGeom>
          <a:solidFill>
            <a:srgbClr val="1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06546" y="600000"/>
            <a:ext cx="2218273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Gate 3
W2~W3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16546" y="1070000"/>
            <a:ext cx="2198273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A9A"/>
                </a:solidFill>
                <a:latin typeface="微软雅黑"/>
              </a:rPr>
              <a:t>GPU DMA 注册验证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6546" y="1430000"/>
            <a:ext cx="2198273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5A6A"/>
                </a:solidFill>
                <a:latin typeface="微软雅黑"/>
              </a:rPr>
              <a:t>• GPU 显存 bus 地址可通过 gdrapi 获取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nvm_dma_t::ioaddrs[] 填充正确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nvm_dma_map() 成功注册 DMA 目标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NVMe READ DMA 写入 GPU 显存成功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6546" y="3600000"/>
            <a:ext cx="219827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F35"/>
                </a:solidFill>
                <a:latin typeface="微软雅黑"/>
              </a:rPr>
              <a:t>结果分支：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16546" y="3870000"/>
            <a:ext cx="2198273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B8A4C"/>
                </a:solidFill>
                <a:latin typeface="微软雅黑"/>
              </a:rPr>
              <a:t>Pass → 继续 Gate 4</a:t>
            </a:r>
          </a:p>
          <a:p>
            <a:r>
              <a:rPr sz="1000" b="0">
                <a:solidFill>
                  <a:srgbClr val="C0392B"/>
                </a:solidFill>
                <a:latin typeface="微软雅黑"/>
              </a:rPr>
              <a:t>Fail → 切换方案 B（ix-p2p.h）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16546" y="4800000"/>
            <a:ext cx="2198273" cy="280000"/>
          </a:xfrm>
          <a:prstGeom prst="rect">
            <a:avLst/>
          </a:prstGeom>
          <a:solidFill>
            <a:srgbClr val="E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6546" y="4830000"/>
            <a:ext cx="217827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F35"/>
                </a:solidFill>
                <a:latin typeface="微软雅黑"/>
              </a:rPr>
              <a:t>🔧 test_gpu_dma_map 验证程序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74819" y="580000"/>
            <a:ext cx="2298273" cy="5900000"/>
          </a:xfrm>
          <a:prstGeom prst="rect">
            <a:avLst/>
          </a:prstGeom>
          <a:solidFill>
            <a:srgbClr val="E8F0FB"/>
          </a:solidFill>
          <a:ln w="317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274819" y="580000"/>
            <a:ext cx="2298273" cy="42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4819" y="600000"/>
            <a:ext cx="2218273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Gate 4
W3~W4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24819" y="1070000"/>
            <a:ext cx="2198273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C1"/>
                </a:solidFill>
                <a:latin typeface="微软雅黑"/>
              </a:rPr>
              <a:t>bam_ptr 端到端功能验证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24819" y="1430000"/>
            <a:ext cx="2198273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5A6A"/>
                </a:solidFill>
                <a:latin typeface="微软雅黑"/>
              </a:rPr>
              <a:t>• bam_ptr[0] 触发正确 NVMe READ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page_cache_t LRU 淘汰正常工作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多线程并发不死锁（simt→cuda 原子）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数据校验：读到的特征值与文件一致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24819" y="3600000"/>
            <a:ext cx="219827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F35"/>
                </a:solidFill>
                <a:latin typeface="微软雅黑"/>
              </a:rPr>
              <a:t>结果分支：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24819" y="3870000"/>
            <a:ext cx="2198273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B8A4C"/>
                </a:solidFill>
                <a:latin typeface="微软雅黑"/>
              </a:rPr>
              <a:t>Pass → 继续 Gate 5</a:t>
            </a:r>
          </a:p>
          <a:p>
            <a:r>
              <a:rPr sz="1000" b="0">
                <a:solidFill>
                  <a:srgbClr val="C0392B"/>
                </a:solidFill>
                <a:latin typeface="微软雅黑"/>
              </a:rPr>
              <a:t>Fail → 并发原子或 DMA 问题排查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24819" y="4800000"/>
            <a:ext cx="2198273" cy="280000"/>
          </a:xfrm>
          <a:prstGeom prst="rect">
            <a:avLst/>
          </a:prstGeom>
          <a:solidFill>
            <a:srgbClr val="E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34819" y="4830000"/>
            <a:ext cx="217827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F35"/>
                </a:solidFill>
                <a:latin typeface="微软雅黑"/>
              </a:rPr>
              <a:t>🔧 GIDS_unit_test.py 单测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83092" y="580000"/>
            <a:ext cx="2298273" cy="5900000"/>
          </a:xfrm>
          <a:prstGeom prst="rect">
            <a:avLst/>
          </a:prstGeom>
          <a:solidFill>
            <a:srgbClr val="E8F8F0"/>
          </a:solidFill>
          <a:ln w="31750">
            <a:solidFill>
              <a:srgbClr val="0D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583092" y="580000"/>
            <a:ext cx="2298273" cy="42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23092" y="600000"/>
            <a:ext cx="2218273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Gate 5
W5~W6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33092" y="1070000"/>
            <a:ext cx="2198273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F35"/>
                </a:solidFill>
                <a:latin typeface="微软雅黑"/>
              </a:rPr>
              <a:t>性能基准达标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33092" y="1430000"/>
            <a:ext cx="2198273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5A6A"/>
                </a:solidFill>
                <a:latin typeface="微软雅黑"/>
              </a:rPr>
              <a:t>• 吞吐量 ≥ cuFile 路线的 1.5x（理论 2~3x）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GPU 利用率 &gt; 80%（无 CPU 瓶颈）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IGB-1M 数据集端到端训练 1 epoch 通过</a:t>
            </a:r>
          </a:p>
          <a:p>
            <a:r>
              <a:rPr sz="1000" b="0">
                <a:solidFill>
                  <a:srgbClr val="4A5A6A"/>
                </a:solidFill>
                <a:latin typeface="微软雅黑"/>
              </a:rPr>
              <a:t>• 与 NVIDIA 原版 GIDS 性能对比报告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33092" y="3600000"/>
            <a:ext cx="219827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F35"/>
                </a:solidFill>
                <a:latin typeface="微软雅黑"/>
              </a:rPr>
              <a:t>结果分支：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33092" y="3870000"/>
            <a:ext cx="2198273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B8A4C"/>
                </a:solidFill>
                <a:latin typeface="微软雅黑"/>
              </a:rPr>
              <a:t>Pass → 方案确定，转生产</a:t>
            </a:r>
          </a:p>
          <a:p>
            <a:r>
              <a:rPr sz="1000" b="0">
                <a:solidFill>
                  <a:srgbClr val="C0392B"/>
                </a:solidFill>
                <a:latin typeface="微软雅黑"/>
              </a:rPr>
              <a:t>未达标 → Window Buffer / 多队列优化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33092" y="4800000"/>
            <a:ext cx="2198273" cy="280000"/>
          </a:xfrm>
          <a:prstGeom prst="rect">
            <a:avLst/>
          </a:prstGeom>
          <a:solidFill>
            <a:srgbClr val="E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43092" y="4830000"/>
            <a:ext cx="217827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F35"/>
                </a:solidFill>
                <a:latin typeface="微软雅黑"/>
              </a:rPr>
              <a:t>🔧 吞吐量 vs 延迟 benchmark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50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80000"/>
            <a:ext cx="12191365" cy="5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80000"/>
            <a:ext cx="11391365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风险评估与对策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6395000"/>
            <a:ext cx="11391365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AA"/>
                </a:solidFill>
                <a:latin typeface="微软雅黑"/>
              </a:rPr>
              <a:t>Risk matrix for bam_ptr native porting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00" y="600000"/>
            <a:ext cx="5800000" cy="850000"/>
          </a:xfrm>
          <a:prstGeom prst="rect">
            <a:avLst/>
          </a:prstGeom>
          <a:solidFill>
            <a:srgbClr val="FEF5E7"/>
          </a:solidFill>
          <a:ln w="25400">
            <a:solidFill>
              <a:srgbClr val="D6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000" y="600000"/>
            <a:ext cx="600000" cy="850000"/>
          </a:xfrm>
          <a:prstGeom prst="rect">
            <a:avLst/>
          </a:prstGeom>
          <a:solidFill>
            <a:srgbClr val="D6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0000" y="670000"/>
            <a:ext cx="540000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R1
中高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000" y="660000"/>
            <a:ext cx="5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7B1E"/>
                </a:solidFill>
                <a:latin typeface="微软雅黑"/>
              </a:rPr>
              <a:t>ixHostRegisterIoMemory 运行时不生效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000" y="99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微软雅黑"/>
              </a:rPr>
              <a:t>根因：IX GPU 驱动可能不支持从 GPU 写入任意 MMIO 地址段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000" y="122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6B3A"/>
                </a:solidFill>
                <a:latin typeface="微软雅黑"/>
              </a:rPr>
              <a:t>对策：D1~D3 运行 test_io_memory.cu 验证
一旦确认，立即有结论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0" y="600000"/>
            <a:ext cx="5800000" cy="850000"/>
          </a:xfrm>
          <a:prstGeom prst="rect">
            <a:avLst/>
          </a:prstGeom>
          <a:solidFill>
            <a:srgbClr val="FDEDE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0" y="600000"/>
            <a:ext cx="600000" cy="85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0000" y="670000"/>
            <a:ext cx="540000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R2
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0000" y="660000"/>
            <a:ext cx="5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微软雅黑"/>
              </a:rPr>
              <a:t>GPU DMA 目标注册（gdrapi 方案 A）失败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0000" y="99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微软雅黑"/>
              </a:rPr>
              <a:t>根因：IX GPU 物理地址 ≠ PCIe bus 地址（IOMMU 影响）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30000" y="122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6B3A"/>
                </a:solidFill>
                <a:latin typeface="微软雅黑"/>
              </a:rPr>
              <a:t>对策：同步推进方案 B：请 Iluvatar 提供 ix-p2p.h
准备好方案 B 的接口规范文档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000" y="1465000"/>
            <a:ext cx="5800000" cy="850000"/>
          </a:xfrm>
          <a:prstGeom prst="rect">
            <a:avLst/>
          </a:prstGeom>
          <a:solidFill>
            <a:srgbClr val="FEF5E7"/>
          </a:solidFill>
          <a:ln w="25400">
            <a:solidFill>
              <a:srgbClr val="D6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" y="1465000"/>
            <a:ext cx="600000" cy="850000"/>
          </a:xfrm>
          <a:prstGeom prst="rect">
            <a:avLst/>
          </a:prstGeom>
          <a:solidFill>
            <a:srgbClr val="D6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0000" y="1535000"/>
            <a:ext cx="540000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R3
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0000" y="1525000"/>
            <a:ext cx="5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7B1E"/>
                </a:solidFill>
                <a:latin typeface="微软雅黑"/>
              </a:rPr>
              <a:t>simt→cuda atomic 语义差异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0000" y="1855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微软雅黑"/>
              </a:rPr>
              <a:t>根因：Corex cuda::atomic 可能在某些 memory_order 组合
下行为与 NVIDIA simt::atomic 不完全一致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0000" y="2085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6B3A"/>
                </a:solidFill>
                <a:latin typeface="微软雅黑"/>
              </a:rPr>
              <a:t>对策：Gate 4 并发正确性测试
用 valgrind/sanitizer 检测数据竞争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1465000"/>
            <a:ext cx="5800000" cy="850000"/>
          </a:xfrm>
          <a:prstGeom prst="rect">
            <a:avLst/>
          </a:prstGeom>
          <a:solidFill>
            <a:srgbClr val="E8F8F0"/>
          </a:solidFill>
          <a:ln w="25400">
            <a:solidFill>
              <a:srgbClr val="1B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0000" y="1465000"/>
            <a:ext cx="600000" cy="85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0000" y="1535000"/>
            <a:ext cx="540000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R4
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30000" y="1525000"/>
            <a:ext cx="5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8A4C"/>
                </a:solidFill>
                <a:latin typeface="微软雅黑"/>
              </a:rPr>
              <a:t>libnvm.ko 在 Linux 5.4 编译失败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30000" y="1855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微软雅黑"/>
              </a:rPr>
              <a:t>根因：内核 API 版本差异（probe/remove 函数签名等）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30000" y="2085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6B3A"/>
                </a:solidFill>
                <a:latin typeface="微软雅黑"/>
              </a:rPr>
              <a:t>对策：BaM module 代码量小（~300行），修改成本低
参考 itrfs.ko 适配经验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0000" y="2330000"/>
            <a:ext cx="5800000" cy="850000"/>
          </a:xfrm>
          <a:prstGeom prst="rect">
            <a:avLst/>
          </a:prstGeom>
          <a:solidFill>
            <a:srgbClr val="E8F8F0"/>
          </a:solidFill>
          <a:ln w="25400">
            <a:solidFill>
              <a:srgbClr val="1B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000" y="2330000"/>
            <a:ext cx="600000" cy="85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0000" y="2400000"/>
            <a:ext cx="540000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R5
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0000" y="2390000"/>
            <a:ext cx="5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8A4C"/>
                </a:solidFill>
                <a:latin typeface="微软雅黑"/>
              </a:rPr>
              <a:t>DGL 编译进度影响端到端测试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0000" y="272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微软雅黑"/>
              </a:rPr>
              <a:t>根因：DGL CUDA 版编译与 bam_ptr 适配并行进行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0000" y="295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6B3A"/>
                </a:solidFill>
                <a:latin typeface="微软雅黑"/>
              </a:rPr>
              <a:t>对策：bam_ptr 单元测试不依赖 DGL
两条线独立，不互相阻塞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2330000"/>
            <a:ext cx="5800000" cy="850000"/>
          </a:xfrm>
          <a:prstGeom prst="rect">
            <a:avLst/>
          </a:prstGeom>
          <a:solidFill>
            <a:srgbClr val="E8F8F0"/>
          </a:solidFill>
          <a:ln w="25400">
            <a:solidFill>
              <a:srgbClr val="1B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0" y="2330000"/>
            <a:ext cx="600000" cy="85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90000" y="2400000"/>
            <a:ext cx="540000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R6
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30000" y="2390000"/>
            <a:ext cx="5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8A4C"/>
                </a:solidFill>
                <a:latin typeface="微软雅黑"/>
              </a:rPr>
              <a:t>工期超过 6 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30000" y="272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微软雅黑"/>
              </a:rPr>
              <a:t>根因：GPU DMA 部分（R2）是主要风险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30000" y="295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6B3A"/>
                </a:solidFill>
                <a:latin typeface="微软雅黑"/>
              </a:rPr>
              <a:t>对策：Gate 1~3 均有明确的 pass/fail 判断
有 cuFile 作为并行保底方案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6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2000"/>
            <a:ext cx="12191365" cy="6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0000" y="400000"/>
            <a:ext cx="1139136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总结 — bam_ptr 原生适配可行性与工作重点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1200000"/>
            <a:ext cx="11391365" cy="1150000"/>
          </a:xfrm>
          <a:prstGeom prst="rect">
            <a:avLst/>
          </a:prstGeom>
          <a:solidFill>
            <a:srgbClr val="122840"/>
          </a:solidFill>
          <a:ln w="31750">
            <a:solidFill>
              <a:srgbClr val="1B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0000" y="1200000"/>
            <a:ext cx="30000" cy="115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0000" y="1300000"/>
            <a:ext cx="11091365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8A4C"/>
                </a:solidFill>
                <a:latin typeface="微软雅黑"/>
              </a:rPr>
              <a:t>✅ 4 项已确认可行（当日可完成）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000" y="1750000"/>
            <a:ext cx="11091365" cy="5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CE0"/>
                </a:solidFill>
                <a:latin typeface="微软雅黑"/>
              </a:rPr>
              <a:t>simt→cuda、&lt;&lt;&lt;&gt;&gt;&gt;语法、CUDA Runtime API映射、libnvm.ko非CUDA部分 — 全部有明确解法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0000" y="2450000"/>
            <a:ext cx="11391365" cy="1150000"/>
          </a:xfrm>
          <a:prstGeom prst="rect">
            <a:avLst/>
          </a:prstGeom>
          <a:solidFill>
            <a:srgbClr val="122840"/>
          </a:solidFill>
          <a:ln w="31750">
            <a:solidFill>
              <a:srgbClr val="D6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0000" y="2450000"/>
            <a:ext cx="30000" cy="1150000"/>
          </a:xfrm>
          <a:prstGeom prst="rect">
            <a:avLst/>
          </a:prstGeom>
          <a:solidFill>
            <a:srgbClr val="D6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000" y="2550000"/>
            <a:ext cx="11091365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67B1E"/>
                </a:solidFill>
                <a:latin typeface="微软雅黑"/>
              </a:rPr>
              <a:t>⚠️ 1 项需运行时验证（D1~D3 关键路径）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0000" y="3000000"/>
            <a:ext cx="11091365" cy="5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CE0"/>
                </a:solidFill>
                <a:latin typeface="微软雅黑"/>
              </a:rPr>
              <a:t>cudaHostRegisterIoMemory：Corex 声明存在（0x04），运行时能否映射 NVMe MMIO 到 GPU VA 需测试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0000" y="3700000"/>
            <a:ext cx="11391365" cy="1150000"/>
          </a:xfrm>
          <a:prstGeom prst="rect">
            <a:avLst/>
          </a:prstGeom>
          <a:solidFill>
            <a:srgbClr val="122840"/>
          </a:solidFill>
          <a:ln w="317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0000" y="3700000"/>
            <a:ext cx="30000" cy="115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0000" y="3800000"/>
            <a:ext cx="11091365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微软雅黑"/>
              </a:rPr>
              <a:t>❌ 1 项需要开发（GPU DMA 注册，W1~W3）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000" y="4250000"/>
            <a:ext cx="11091365" cy="5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CE0"/>
                </a:solidFill>
                <a:latin typeface="微软雅黑"/>
              </a:rPr>
              <a:t>nvidia_p2p_* → 方案A(gdrapi.h用户态) 或 方案B(ix-p2p.h内核) 替换，是整个移植的最大挑战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0000" y="4950000"/>
            <a:ext cx="11391365" cy="1150000"/>
          </a:xfrm>
          <a:prstGeom prst="rect">
            <a:avLst/>
          </a:prstGeom>
          <a:solidFill>
            <a:srgbClr val="122840"/>
          </a:solidFill>
          <a:ln w="31750">
            <a:solidFill>
              <a:srgbClr val="0D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0000" y="4950000"/>
            <a:ext cx="30000" cy="115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0000" y="5050000"/>
            <a:ext cx="11091365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F35"/>
                </a:solidFill>
                <a:latin typeface="微软雅黑"/>
              </a:rPr>
              <a:t>🎯 核心价值：完整保留 bam_ptr GPU-Direct 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0000" y="5500000"/>
            <a:ext cx="11091365" cy="5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CE0"/>
                </a:solidFill>
                <a:latin typeface="微软雅黑"/>
              </a:rPr>
              <a:t>GPU kernel 透明访问 NVMe，无 CPU 介入，性能上限与 NVIDIA 原版 GIDS 一致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00" y="6480000"/>
            <a:ext cx="11391365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A6A9A"/>
                </a:solidFill>
                <a:latin typeface="微软雅黑"/>
              </a:rPr>
              <a:t>BaM × Corex  |  bam_ptr Native Adaptation  |  6 Weeks Plan  |  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