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0000"/>
            <a:ext cx="12191365" cy="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0000" y="1600000"/>
            <a:ext cx="11971365" cy="34000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0000" y="1600000"/>
            <a:ext cx="12000" cy="340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750000"/>
            <a:ext cx="11291365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GIDS × Corex 适配方案决策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450000"/>
            <a:ext cx="112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AC8E8"/>
                </a:solidFill>
                <a:latin typeface="微软雅黑"/>
              </a:rPr>
              <a:t>GPU-Initiated Direct Storage for GNN Training on Iluvatar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2980000"/>
            <a:ext cx="3000000" cy="6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3100000"/>
            <a:ext cx="112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C8DC"/>
                </a:solidFill>
                <a:latin typeface="微软雅黑"/>
              </a:rPr>
              <a:t>汇报目的：确定 bam_ptr 路线 vs cuFile 路线，明确工作计划与资源需求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5200000"/>
            <a:ext cx="2700000" cy="700000"/>
          </a:xfrm>
          <a:prstGeom prst="rect">
            <a:avLst/>
          </a:prstGeom>
          <a:solidFill>
            <a:srgbClr val="1A3555"/>
          </a:solidFill>
          <a:ln w="1905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000" y="5270000"/>
            <a:ext cx="2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B0D0"/>
                </a:solidFill>
                <a:latin typeface="微软雅黑"/>
              </a:rPr>
              <a:t>汇报人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5520000"/>
            <a:ext cx="2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GNN 存储团队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0000" y="5200000"/>
            <a:ext cx="2700000" cy="700000"/>
          </a:xfrm>
          <a:prstGeom prst="rect">
            <a:avLst/>
          </a:prstGeom>
          <a:solidFill>
            <a:srgbClr val="1A3555"/>
          </a:solidFill>
          <a:ln w="1905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000" y="5270000"/>
            <a:ext cx="2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B0D0"/>
                </a:solidFill>
                <a:latin typeface="微软雅黑"/>
              </a:rPr>
              <a:t>日期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000" y="5520000"/>
            <a:ext cx="2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2026-06-12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5200000"/>
            <a:ext cx="2700000" cy="700000"/>
          </a:xfrm>
          <a:prstGeom prst="rect">
            <a:avLst/>
          </a:prstGeom>
          <a:solidFill>
            <a:srgbClr val="1A3555"/>
          </a:solidFill>
          <a:ln w="1905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0000" y="5270000"/>
            <a:ext cx="2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B0D0"/>
                </a:solidFill>
                <a:latin typeface="微软雅黑"/>
              </a:rPr>
              <a:t>版本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0000" y="5520000"/>
            <a:ext cx="2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决策版 v1.0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0000" y="5200000"/>
            <a:ext cx="2700000" cy="700000"/>
          </a:xfrm>
          <a:prstGeom prst="rect">
            <a:avLst/>
          </a:prstGeom>
          <a:solidFill>
            <a:srgbClr val="1A3555"/>
          </a:solidFill>
          <a:ln w="19050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0000" y="5270000"/>
            <a:ext cx="2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AB0D0"/>
                </a:solidFill>
                <a:latin typeface="微软雅黑"/>
              </a:rPr>
              <a:t>状态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0000" y="5520000"/>
            <a:ext cx="2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</a:rPr>
              <a:t>待定方案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核心结论 —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6400000"/>
            <a:ext cx="1143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CAE0"/>
                </a:solidFill>
                <a:latin typeface="微软雅黑"/>
              </a:rPr>
              <a:t>先看结论再看分析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63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微软雅黑"/>
              </a:rPr>
              <a:t>调研结论：bam_ptr 移植技术上可行，但存在一个关键硬件确认项需在本次会议决策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000" y="1100000"/>
            <a:ext cx="11431365" cy="1230000"/>
          </a:xfrm>
          <a:prstGeom prst="rect">
            <a:avLst/>
          </a:prstGeom>
          <a:solidFill>
            <a:srgbClr val="F8FCFF"/>
          </a:solidFill>
          <a:ln w="317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0000" y="1100000"/>
            <a:ext cx="380000" cy="123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0000" y="1200000"/>
            <a:ext cx="2000000" cy="28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1230000"/>
            <a:ext cx="196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✅ 已确认可行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00" y="1530000"/>
            <a:ext cx="3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8B4C"/>
                </a:solidFill>
                <a:latin typeface="微软雅黑"/>
              </a:rPr>
              <a:t>&lt;&lt;&lt;&gt;&gt;&gt; 语法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000" y="1870000"/>
            <a:ext cx="106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Corex ixc 编译器原生支持 &lt;&lt;&lt;&gt;&gt;&gt; kernel launch 语法（host_runtime.h 已验证），
无需改写为 ixLaunchKernel()，之前的顾虑不成立。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0000" y="2450000"/>
            <a:ext cx="11431365" cy="1230000"/>
          </a:xfrm>
          <a:prstGeom prst="rect">
            <a:avLst/>
          </a:prstGeom>
          <a:solidFill>
            <a:srgbClr val="F8FCFF"/>
          </a:solidFill>
          <a:ln w="317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0000" y="2450000"/>
            <a:ext cx="380000" cy="123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0000" y="2550000"/>
            <a:ext cx="2000000" cy="28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2580000"/>
            <a:ext cx="196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✅ 已确认可行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000" y="2880000"/>
            <a:ext cx="3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8B4C"/>
                </a:solidFill>
                <a:latin typeface="微软雅黑"/>
              </a:rPr>
              <a:t>simt::atomic 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000" y="3220000"/>
            <a:ext cx="106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BaM 依赖 NVIDIA CCCL simt::atomic，Corex 有完全等价的 cuda::atomic
（cuda/std/atomic，已确认 thread_scope_device 支持），全局搜索替换即可。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000" y="3800000"/>
            <a:ext cx="11431365" cy="1230000"/>
          </a:xfrm>
          <a:prstGeom prst="rect">
            <a:avLst/>
          </a:prstGeom>
          <a:solidFill>
            <a:srgbClr val="F8FCFF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0000" y="3800000"/>
            <a:ext cx="380000" cy="123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0000" y="3900000"/>
            <a:ext cx="2000000" cy="28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3930000"/>
            <a:ext cx="196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✅ 有路径，需 1~2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000" y="4230000"/>
            <a:ext cx="3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微软雅黑"/>
              </a:rPr>
              <a:t>内核模块 GPU DMA（nv-p2p.h）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000" y="4570000"/>
            <a:ext cx="106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BaM 内核模块用 NVIDIA nv-p2p.h 做 GPU 内存 DMA 注册。
Corex 有 gdrapi.h（p2p_token 机制），适配路径存在，需要实现和测试。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0000" y="5150000"/>
            <a:ext cx="11431365" cy="1230000"/>
          </a:xfrm>
          <a:prstGeom prst="rect">
            <a:avLst/>
          </a:prstGeom>
          <a:solidFill>
            <a:srgbClr val="F8FC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0000" y="5150000"/>
            <a:ext cx="380000" cy="12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0000" y="5250000"/>
            <a:ext cx="2000000" cy="2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5280000"/>
            <a:ext cx="196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⚠️ 关键未知项  需本次决策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000" y="5580000"/>
            <a:ext cx="32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0392B"/>
                </a:solidFill>
                <a:latin typeface="微软雅黑"/>
              </a:rPr>
              <a:t>GPU kernel 直写 NVMe SQ MMIO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000" y="5920000"/>
            <a:ext cx="1069136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bam_ptr 的核心路径：GPU warp 直接写入 NVMe 控制器的 BAR 寄存器（PCIe 设备写）。
这要求 IX GPU 支持 PCIe peer write to NVMe BAR。目前未验证，需硬件团队确认。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4000"/>
            <a:ext cx="11991365" cy="8000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800000"/>
            <a:ext cx="4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51B9D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3200000"/>
            <a:ext cx="1139136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背景：GIDS 要做什么？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4100000"/>
            <a:ext cx="113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B3D0"/>
                </a:solidFill>
                <a:latin typeface="微软雅黑"/>
              </a:rPr>
              <a:t>Why GIDS / What needs to run on Corex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GIDS 是什么 / 为何要在 Corex 上运行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000" y="620000"/>
            <a:ext cx="5400000" cy="5700000"/>
          </a:xfrm>
          <a:prstGeom prst="rect">
            <a:avLst/>
          </a:prstGeom>
          <a:solidFill>
            <a:srgbClr val="E8F6FD"/>
          </a:solidFill>
          <a:ln w="25400">
            <a:solidFill>
              <a:srgbClr val="51B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000" y="7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9A"/>
                </a:solidFill>
                <a:latin typeface="微软雅黑"/>
              </a:rPr>
              <a:t>GIDS 是什么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000" y="1100000"/>
            <a:ext cx="51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F4A"/>
                </a:solidFill>
                <a:latin typeface="微软雅黑"/>
              </a:rPr>
              <a:t>GPU-Initiated Direct Storage Accesses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专为超大规模 GNN 训练设计的数据加载系统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1A7A9A"/>
                </a:solidFill>
                <a:latin typeface="微软雅黑"/>
              </a:rPr>
              <a:t>核心价值：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GPU 直接从 NVMe SSD 读取节点特征数据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彻底绕过 CPU，消除数据流水线瓶颈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支持 2TB+ 级别图特征（IGB-Full 547M 节点）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1A7A9A"/>
                </a:solidFill>
                <a:latin typeface="微软雅黑"/>
              </a:rPr>
              <a:t>技术原理：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BaM 框架：GPU kernel 直接写 NVMe 命令队列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GPU 端 page cache（显存作热数据二级缓存）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Window Buffer 预取 + Accumulator 合并 I/O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1A7A9A"/>
                </a:solidFill>
                <a:latin typeface="微软雅黑"/>
              </a:rPr>
              <a:t>性能收益（论文数据）：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• 数据加载吞吐 vs mmap：+200~500%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• 端到端训练时间：缩短 40~60%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0000" y="620000"/>
            <a:ext cx="5700000" cy="5700000"/>
          </a:xfrm>
          <a:prstGeom prst="rect">
            <a:avLst/>
          </a:prstGeom>
          <a:solidFill>
            <a:srgbClr val="FEF5E7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0000" y="700000"/>
            <a:ext cx="5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微软雅黑"/>
              </a:rPr>
              <a:t>为什么要适配 Corex 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0000" y="1100000"/>
            <a:ext cx="54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微软雅黑"/>
              </a:rPr>
              <a:t>业务需求：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Iluvatar GPU 是公司主推算力平台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GNN 训练是核心应用场景之一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需要 GIDS 的加速能力跑在 Corex 上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E67E22"/>
                </a:solidFill>
                <a:latin typeface="微软雅黑"/>
              </a:rPr>
              <a:t>技术现状：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原始 GIDS 依赖 NVIDIA CUDA + BaM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Corex 提供 CUDA 兼容层（CUDA API 全覆盖）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但 BaM 的 NVMe 底层机制需要确认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E67E22"/>
                </a:solidFill>
                <a:latin typeface="微软雅黑"/>
              </a:rPr>
              <a:t>目标：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GIDS 完整功能在 Corex GPU + NVMe 上运行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保留原论文的性能优势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• 支持 IGB、OGB 等大规模图数据集训练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E67E22"/>
                </a:solidFill>
                <a:latin typeface="微软雅黑"/>
              </a:rPr>
              <a:t>当前里程碑：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• ✅ cuFile 替代方案已移植完成（保底路线）</a:t>
            </a:r>
          </a:p>
          <a:p>
            <a:pPr algn="l"/>
            <a:r>
              <a:rPr sz="1200" b="0">
                <a:solidFill>
                  <a:srgbClr val="E67E22"/>
                </a:solidFill>
                <a:latin typeface="微软雅黑"/>
              </a:rPr>
              <a:t>• ⚠️ bam_ptr 原生路线可行性待确认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4000"/>
            <a:ext cx="11991365" cy="8000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800000"/>
            <a:ext cx="4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51B9D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3200000"/>
            <a:ext cx="1139136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两条技术路线对比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4100000"/>
            <a:ext cx="113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B3D0"/>
                </a:solidFill>
                <a:latin typeface="微软雅黑"/>
              </a:rPr>
              <a:t>cuFile Route vs bam_ptr Route — Trade-offs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两条路线全景对比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6400000"/>
            <a:ext cx="1143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CAE0"/>
                </a:solidFill>
                <a:latin typeface="微软雅黑"/>
              </a:rPr>
              <a:t>cuFile（保底已有）vs bam_ptr（原生移植）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5682" y="600000"/>
            <a:ext cx="60000" cy="570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95682" y="580000"/>
            <a:ext cx="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A9BAA"/>
                </a:solidFill>
                <a:latin typeface="微软雅黑"/>
              </a:rPr>
              <a:t>VS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0000" y="620000"/>
            <a:ext cx="5500000" cy="575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0000" y="620000"/>
            <a:ext cx="5500000" cy="43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650000"/>
            <a:ext cx="52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路线 A  ✅  cuFile + IXFeatureStore（已完成）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000" y="1130000"/>
            <a:ext cx="5250000" cy="5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8B4C"/>
                </a:solidFill>
                <a:latin typeface="微软雅黑"/>
              </a:rPr>
              <a:t>架构变化：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BAM_Feature_Store → IXFeatureStore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bam_ptr.read() → cuFileRead() GPU DMA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/dev/libnvmX → /mnt/nvme0/node_feat.bin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GPU page cache → OS kernel page cache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1E8B4C"/>
                </a:solidFill>
                <a:latin typeface="微软雅黑"/>
              </a:rPr>
              <a:t>优势：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  ✅ 代码已写完，sandbox + Docker 编译通过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  ✅ 依赖 Corex 官方 GDS 栈（itrfs.ko 已验证）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  ✅ 无硬件未知风险，可快速端到端验证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  ✅ 自动 POSIX fallback，程序不会崩溃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E67E22"/>
                </a:solidFill>
                <a:latin typeface="微软雅黑"/>
              </a:rPr>
              <a:t>代价：</a:t>
            </a:r>
          </a:p>
          <a:p>
            <a:pPr algn="l"/>
            <a:r>
              <a:rPr sz="1200" b="0">
                <a:solidFill>
                  <a:srgbClr val="E67E22"/>
                </a:solidFill>
                <a:latin typeface="微软雅黑"/>
              </a:rPr>
              <a:t>  ⚠ GPU kernel 内无透明 page fault 语义</a:t>
            </a:r>
          </a:p>
          <a:p>
            <a:pPr algn="l"/>
            <a:r>
              <a:rPr sz="1200" b="0">
                <a:solidFill>
                  <a:srgbClr val="E67E22"/>
                </a:solidFill>
                <a:latin typeface="微软雅黑"/>
              </a:rPr>
              <a:t>  ⚠ CPU 发起 DMA，多一次调度延迟</a:t>
            </a:r>
          </a:p>
          <a:p>
            <a:pPr algn="l"/>
            <a:r>
              <a:rPr sz="1200" b="0">
                <a:solidFill>
                  <a:srgbClr val="E67E22"/>
                </a:solidFill>
                <a:latin typeface="微软雅黑"/>
              </a:rPr>
              <a:t>  ⚠ 理论性能低于 bam_ptr（预估 20~40%）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1E8B4C"/>
                </a:solidFill>
                <a:latin typeface="微软雅黑"/>
              </a:rPr>
              <a:t>当前状态：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核心代码完成，DGL 编译进行中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预计 1~2 周内可端到端跑通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0000" y="620000"/>
            <a:ext cx="5700000" cy="5750000"/>
          </a:xfrm>
          <a:prstGeom prst="rect">
            <a:avLst/>
          </a:prstGeom>
          <a:solidFill>
            <a:srgbClr val="E8F6FD"/>
          </a:solidFill>
          <a:ln w="317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0000" y="620000"/>
            <a:ext cx="5700000" cy="43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000" y="650000"/>
            <a:ext cx="5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路线 B  ⚠️  bam_ptr 原生适配（待评估）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0000" y="1130000"/>
            <a:ext cx="5450000" cy="5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架构变化：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保留 bam_ptr&lt;T&gt; + page_cache_t 语义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simt::atomic → cuda::atomic（简单替换）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nv-p2p.h → Corex gdrapi.h（内核模块改造）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GPU 直写 NVMe BAR（需硬件验证）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优势：</a:t>
            </a:r>
          </a:p>
          <a:p>
            <a:pPr algn="l"/>
            <a:r>
              <a:rPr sz="1200" b="0">
                <a:solidFill>
                  <a:srgbClr val="2E86C1"/>
                </a:solidFill>
                <a:latin typeface="微软雅黑"/>
              </a:rPr>
              <a:t>  ✅ 完全保留原论文 GPU-Direct 路径</a:t>
            </a:r>
          </a:p>
          <a:p>
            <a:pPr algn="l"/>
            <a:r>
              <a:rPr sz="1200" b="0">
                <a:solidFill>
                  <a:srgbClr val="2E86C1"/>
                </a:solidFill>
                <a:latin typeface="微软雅黑"/>
              </a:rPr>
              <a:t>  ✅ 性能上限与 NVIDIA 版 GIDS 一致</a:t>
            </a:r>
          </a:p>
          <a:p>
            <a:pPr algn="l"/>
            <a:r>
              <a:rPr sz="1200" b="0">
                <a:solidFill>
                  <a:srgbClr val="2E86C1"/>
                </a:solidFill>
                <a:latin typeface="微软雅黑"/>
              </a:rPr>
              <a:t>  ✅ 无 CPU 调度开销，延迟最低</a:t>
            </a:r>
          </a:p>
          <a:p>
            <a:pPr algn="l"/>
            <a:r>
              <a:rPr sz="1200" b="0">
                <a:solidFill>
                  <a:srgbClr val="2E86C1"/>
                </a:solidFill>
                <a:latin typeface="微软雅黑"/>
              </a:rPr>
              <a:t>  ✅ bam_ptr API 对上层完全透明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风险：</a:t>
            </a:r>
          </a:p>
          <a:p>
            <a:pPr algn="l"/>
            <a:r>
              <a:rPr sz="1200" b="0">
                <a:solidFill>
                  <a:srgbClr val="C0392B"/>
                </a:solidFill>
                <a:latin typeface="微软雅黑"/>
              </a:rPr>
              <a:t>  ❌ IX GPU PCIe peer write 到 NVMe BAR 未验证</a:t>
            </a:r>
          </a:p>
          <a:p>
            <a:pPr algn="l"/>
            <a:r>
              <a:rPr sz="1200" b="0">
                <a:solidFill>
                  <a:srgbClr val="E67E22"/>
                </a:solidFill>
                <a:latin typeface="微软雅黑"/>
              </a:rPr>
              <a:t>  ❌ 内核模块需改造（涉及驱动团队）</a:t>
            </a:r>
          </a:p>
          <a:p>
            <a:pPr algn="l"/>
            <a:r>
              <a:rPr sz="1200" b="0">
                <a:solidFill>
                  <a:srgbClr val="E67E22"/>
                </a:solidFill>
                <a:latin typeface="微软雅黑"/>
              </a:rPr>
              <a:t>  ❌ 工期不确定（2~6 周，视硬件支持结论）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2E86C1"/>
                </a:solidFill>
                <a:latin typeface="微软雅黑"/>
              </a:rPr>
              <a:t>当前状态：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simt::atomic 替换方案已验证可行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内核 nv-p2p → gdrapi 路径待实现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4000"/>
            <a:ext cx="11991365" cy="8000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800000"/>
            <a:ext cx="4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51B9D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3200000"/>
            <a:ext cx="1139136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bam_ptr 适配的三层技术障碍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4100000"/>
            <a:ext cx="113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B3D0"/>
                </a:solidFill>
                <a:latin typeface="微软雅黑"/>
              </a:rPr>
              <a:t>Layer-by-layer technical analysis for bam_ptr 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bam_ptr 适配三层障碍逐层分析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6400000"/>
            <a:ext cx="1143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CAE0"/>
                </a:solidFill>
                <a:latin typeface="微软雅黑"/>
              </a:rPr>
              <a:t>Green = solvable, Red = requires HW team confirmation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00" y="620000"/>
            <a:ext cx="3797121" cy="5700000"/>
          </a:xfrm>
          <a:prstGeom prst="rect">
            <a:avLst/>
          </a:prstGeom>
          <a:solidFill>
            <a:srgbClr val="F8FCFF"/>
          </a:solidFill>
          <a:ln w="317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620000"/>
            <a:ext cx="3797121" cy="40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0000" y="670000"/>
            <a:ext cx="8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000" y="680000"/>
            <a:ext cx="2797121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★☆☆  1~2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000" y="870000"/>
            <a:ext cx="3637121" cy="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simt::atomic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000" y="1090000"/>
            <a:ext cx="3637121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微软雅黑"/>
              </a:rPr>
              <a:t>问题：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00" y="1310000"/>
            <a:ext cx="3637121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BaM 所有 page_cache_t / nvm_parallel_queue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大量使用 NVIDIA CCCL simt::atomic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simt::thread_scope_device / memory_order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" y="2600000"/>
            <a:ext cx="3637121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B4C"/>
                </a:solidFill>
                <a:latin typeface="微软雅黑"/>
              </a:rPr>
              <a:t>解法：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000" y="2820000"/>
            <a:ext cx="3637121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Corex 有 cuda/std/atomic（已确认！）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thread_scope_device 完全支持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fetch_add/fetch_sub/store/load 一一对应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一条 sed 全局替换即可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000" y="4370000"/>
            <a:ext cx="3637121" cy="30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000" y="4410000"/>
            <a:ext cx="3637121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 立即可做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000" y="4740000"/>
            <a:ext cx="3637121" cy="150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00" y="4790000"/>
            <a:ext cx="3537121" cy="1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09A"/>
                </a:solidFill>
                <a:latin typeface="Consolas"/>
              </a:rPr>
              <a:t>// 修复命令（30秒完成）
sed -i 's/simt::/cuda::/g' bam/include/*.h
sed -i 's/&lt;simt\/atomic&gt;/&lt;cuda\/std\/atomic&gt;/g' \
    bam/include/*.h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7121" y="620000"/>
            <a:ext cx="3797121" cy="5700000"/>
          </a:xfrm>
          <a:prstGeom prst="rect">
            <a:avLst/>
          </a:prstGeom>
          <a:solidFill>
            <a:srgbClr val="F8FCFF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97121" y="620000"/>
            <a:ext cx="3797121" cy="40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7121" y="670000"/>
            <a:ext cx="8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层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7121" y="680000"/>
            <a:ext cx="2797121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★★☆  1~2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7121" y="870000"/>
            <a:ext cx="3637121" cy="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libnvm.ko GPU DMA
nv-p2p.h → gdrapi.h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7121" y="1090000"/>
            <a:ext cx="3637121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微软雅黑"/>
              </a:rPr>
              <a:t>问题：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7121" y="1310000"/>
            <a:ext cx="3637121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BaM 内核模块用 nvidia_p2p_get_pages()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将 GPU 物理内存页注册为 NVMe DMA 目标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nv-p2p.h 是 NVIDIA 专有内核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7121" y="2600000"/>
            <a:ext cx="3637121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B4C"/>
                </a:solidFill>
                <a:latin typeface="微软雅黑"/>
              </a:rPr>
              <a:t>解法：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7121" y="2820000"/>
            <a:ext cx="3637121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Corex 有 gdrapi.h（GDR 用户态 API）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gdr_pin_buffer() + p2p_token 机制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IX_POINTER_ATTRIBUTE_P2P_TOKENS 可获 token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内核模块适配或改为用户态路径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7121" y="4370000"/>
            <a:ext cx="3637121" cy="30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7121" y="4410000"/>
            <a:ext cx="3637121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⚠️ 有路径需实现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7121" y="4740000"/>
            <a:ext cx="3637121" cy="150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7121" y="4790000"/>
            <a:ext cx="3537121" cy="1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09A"/>
                </a:solidFill>
                <a:latin typeface="Consolas"/>
              </a:rPr>
              <a:t>// Corex 等价路径
ixdrvPointerGetAttributes(
  IXDRV_POINTER_ATTRIBUTE_P2P_TOKENS,
  &amp;tokens, gpu_ptr);
gdr_pin_buffer(g, addr, size,
  tokens.p2pToken,
  tokens.va_space, &amp;handle);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4242" y="620000"/>
            <a:ext cx="3797121" cy="5700000"/>
          </a:xfrm>
          <a:prstGeom prst="rect">
            <a:avLst/>
          </a:prstGeom>
          <a:solidFill>
            <a:srgbClr val="F8FC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4242" y="620000"/>
            <a:ext cx="3797121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4242" y="670000"/>
            <a:ext cx="8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层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4242" y="680000"/>
            <a:ext cx="2797121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★★★  未知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24242" y="870000"/>
            <a:ext cx="3637121" cy="1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GPU kernel 直写
NVMe SQ MMIO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4242" y="1090000"/>
            <a:ext cx="3637121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微软雅黑"/>
              </a:rPr>
              <a:t>问题：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4242" y="1310000"/>
            <a:ext cx="3637121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bam_ptr cache miss 时 GPU warp 写入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NVMe SQ 寄存器（PCIe BAR 空间）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要求 NVMe BAR 映射进 GPU VA 空间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即 PCIe device-to-device peer write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4242" y="2600000"/>
            <a:ext cx="3637121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B4C"/>
                </a:solidFill>
                <a:latin typeface="微软雅黑"/>
              </a:rPr>
              <a:t>解法：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4242" y="2820000"/>
            <a:ext cx="3637121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NVIDIA: GPUDirect RDMA 支持此路径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Corex IX GPU: 尚未验证！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需向 Iluvatar HW/驱动团队确认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若支持：bam_ptr 完整适配可行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• 若不支持：路线 A（cuFile）为唯一可行方案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4242" y="4370000"/>
            <a:ext cx="3637121" cy="3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24242" y="4410000"/>
            <a:ext cx="3637121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❌ 本次决策关键点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4242" y="4740000"/>
            <a:ext cx="3637121" cy="1500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74242" y="4790000"/>
            <a:ext cx="3537121" cy="1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09A"/>
                </a:solidFill>
                <a:latin typeface="Consolas"/>
              </a:rPr>
              <a:t>// 需要确认的问题
ixDeviceCanAccessPeer() 覆盖 GPU-GPU
但 GPU → NVMe BAR 属于不同 PCIe 设备
目前无文档/API 确认 IX GPU 支持
需硬件团队给出明确答复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4000"/>
            <a:ext cx="11991365" cy="8000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800000"/>
            <a:ext cx="4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C0392B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3200000"/>
            <a:ext cx="1139136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关键验证项 — 决策前必须回答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4100000"/>
            <a:ext cx="113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B3D0"/>
                </a:solidFill>
                <a:latin typeface="微软雅黑"/>
              </a:rPr>
              <a:t>The one question that determines everything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唯一关键验证项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6400000"/>
            <a:ext cx="1143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CAE0"/>
                </a:solidFill>
                <a:latin typeface="微软雅黑"/>
              </a:rPr>
              <a:t>答案决定走哪条路线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600000"/>
            <a:ext cx="11431365" cy="1100000"/>
          </a:xfrm>
          <a:prstGeom prst="rect">
            <a:avLst/>
          </a:prstGeom>
          <a:solidFill>
            <a:srgbClr val="FDEDEC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000" y="600000"/>
            <a:ext cx="20000" cy="11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680000"/>
            <a:ext cx="10991365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微软雅黑"/>
              </a:rPr>
              <a:t>核心问题（需向 Iluvatar 硬件/驱动团队确认）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00" y="1020000"/>
            <a:ext cx="109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2F4A"/>
                </a:solidFill>
                <a:latin typeface="微软雅黑"/>
              </a:rPr>
              <a:t>IX GPU kernel 中，能否通过 PCIe 直接写入 NVMe 控制器的 BAR 寄存器（MMIO）？
即：NVMe SQ 寄存器地址能否映射到 GPU 虚拟地址空间，并允许 GPU warp store 写入？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000" y="1900000"/>
            <a:ext cx="1143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5A6A"/>
                </a:solidFill>
                <a:latin typeface="微软雅黑"/>
              </a:rPr>
              <a:t>两种答案对应完全不同的工作计划：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0000" y="2250000"/>
            <a:ext cx="5500000" cy="3900000"/>
          </a:xfrm>
          <a:prstGeom prst="rect">
            <a:avLst/>
          </a:prstGeom>
          <a:solidFill>
            <a:srgbClr val="E8F8F0"/>
          </a:solidFill>
          <a:ln w="317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0000" y="2250000"/>
            <a:ext cx="5500000" cy="42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000" y="2280000"/>
            <a:ext cx="52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答案：YES（IX GPU 支持此 PCIe peer write）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000" y="2750000"/>
            <a:ext cx="52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采用路线 B：bam_ptr 完整移植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200" b="1">
                <a:solidFill>
                  <a:srgbClr val="1B2F4A"/>
                </a:solidFill>
                <a:latin typeface="微软雅黑"/>
              </a:rPr>
              <a:t>工作步骤：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1：simt::atomic → cuda::atomic（已有方案）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1-2：编译 libnvm.ko 内核模块（替换 nv-p2p.h）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2-3：验证 GPU kernel 写 NVMe SQ 路径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3-4：集成 page_cache_t，端到端跑通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5-6：性能调优，与 NVIDIA 版对比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300" b="1">
                <a:solidFill>
                  <a:srgbClr val="1E8B4C"/>
                </a:solidFill>
                <a:latin typeface="微软雅黑"/>
              </a:rPr>
              <a:t>预期工期：4~6 周</a:t>
            </a:r>
          </a:p>
          <a:p>
            <a:pPr algn="l"/>
            <a:r>
              <a:rPr sz="1200" b="0">
                <a:solidFill>
                  <a:srgbClr val="1E8B4C"/>
                </a:solidFill>
                <a:latin typeface="微软雅黑"/>
              </a:rPr>
              <a:t>性能预期：与 NVIDIA 原版 GIDS 相当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2250000"/>
            <a:ext cx="5500000" cy="3900000"/>
          </a:xfrm>
          <a:prstGeom prst="rect">
            <a:avLst/>
          </a:prstGeom>
          <a:solidFill>
            <a:srgbClr val="FEF5E7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000" y="2250000"/>
            <a:ext cx="5500000" cy="42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0000" y="2280000"/>
            <a:ext cx="520000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答案：NO（IX GPU 不支持此 PCIe peer write）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000" y="2750000"/>
            <a:ext cx="52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微软雅黑"/>
              </a:rPr>
              <a:t>采用路线 A：cuFile + IXFeatureStore（已有）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当前状态：已完成 80%，可立即推进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200" b="1">
                <a:solidFill>
                  <a:srgbClr val="1B2F4A"/>
                </a:solidFill>
                <a:latin typeface="微软雅黑"/>
              </a:rPr>
              <a:t>剩余工作：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1：完成 DGL CUDA 版编译（进行中）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1-2：端到端训练跑通验证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2-4：多 SSD / Window Buffer 优化</a:t>
            </a:r>
          </a:p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  Week 4-6：异构图 + 性能 Profiling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/>
            </a:r>
          </a:p>
          <a:p>
            <a:pPr algn="l"/>
            <a:r>
              <a:rPr sz="1200" b="0">
                <a:solidFill>
                  <a:srgbClr val="E67E22"/>
                </a:solidFill>
                <a:latin typeface="微软雅黑"/>
              </a:rPr>
              <a:t>性能预期：略低于 NVIDIA 原版（20~40%）</a:t>
            </a:r>
          </a:p>
          <a:p>
            <a:pPr algn="l"/>
            <a:r>
              <a:rPr sz="1300" b="1">
                <a:solidFill>
                  <a:srgbClr val="1E8B4C"/>
                </a:solidFill>
                <a:latin typeface="微软雅黑"/>
              </a:rPr>
              <a:t>预期工期：2~3 周端到端跑通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5682" y="37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C0392B"/>
                </a:solidFill>
                <a:latin typeface="微软雅黑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4000"/>
            <a:ext cx="11991365" cy="8000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800000"/>
            <a:ext cx="4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51B9D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3200000"/>
            <a:ext cx="1139136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推荐工作计划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4100000"/>
            <a:ext cx="113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B3D0"/>
                </a:solidFill>
                <a:latin typeface="微软雅黑"/>
              </a:rPr>
              <a:t>Recommended action plan regardless of hardware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推荐：双轨并行 — 不赌答案，同步推进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600000"/>
            <a:ext cx="1143136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5A6A"/>
                </a:solidFill>
                <a:latin typeface="微软雅黑"/>
              </a:rPr>
              <a:t>建议：在等待硬件团队确认的同时，两条线同步推进，确保无论答案如何都不浪费工时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000" y="1100000"/>
            <a:ext cx="500000" cy="380000"/>
          </a:xfrm>
          <a:prstGeom prst="rect">
            <a:avLst/>
          </a:prstGeom>
          <a:solidFill>
            <a:srgbClr val="1B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000" y="1180000"/>
            <a:ext cx="5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0000" y="1100000"/>
            <a:ext cx="1831894" cy="3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0000" y="1180000"/>
            <a:ext cx="1791894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第1周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1894" y="1100000"/>
            <a:ext cx="1831894" cy="3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1894" y="1180000"/>
            <a:ext cx="1791894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第2周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83788" y="1100000"/>
            <a:ext cx="1831894" cy="3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3788" y="1180000"/>
            <a:ext cx="1791894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第3周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5682" y="1100000"/>
            <a:ext cx="1831894" cy="3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5682" y="1180000"/>
            <a:ext cx="1791894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第4周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7576" y="1100000"/>
            <a:ext cx="1831894" cy="3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7576" y="1180000"/>
            <a:ext cx="1791894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第5周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09470" y="1100000"/>
            <a:ext cx="1831894" cy="3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9470" y="1180000"/>
            <a:ext cx="1791894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第6周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000" y="1520000"/>
            <a:ext cx="500000" cy="530000"/>
          </a:xfrm>
          <a:prstGeom prst="rect">
            <a:avLst/>
          </a:prstGeom>
          <a:solidFill>
            <a:srgbClr val="F0F8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0000" y="1580000"/>
            <a:ext cx="1831894" cy="41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0000" y="1620000"/>
            <a:ext cx="1711894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硬件确认：IX GPU PCIe peer write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81364" y="1650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微软雅黑"/>
              </a:rPr>
              <a:t>❶ 本周内提问硬件团队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000" y="1680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000" y="2065000"/>
            <a:ext cx="50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0000" y="2125000"/>
            <a:ext cx="1831894" cy="41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0000" y="2165000"/>
            <a:ext cx="1711894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simt::atomic → cuda::atomic 修复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81364" y="2195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8B4C"/>
                </a:solidFill>
                <a:latin typeface="微软雅黑"/>
              </a:rPr>
              <a:t>无论哪条路线都需要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000" y="2225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0000" y="2610000"/>
            <a:ext cx="500000" cy="530000"/>
          </a:xfrm>
          <a:prstGeom prst="rect">
            <a:avLst/>
          </a:prstGeom>
          <a:solidFill>
            <a:srgbClr val="F0F8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00000" y="2670000"/>
            <a:ext cx="1831894" cy="41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0000" y="2710000"/>
            <a:ext cx="1711894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DGL CUDA 版编译完成（进行中）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81364" y="2740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8B4C"/>
                </a:solidFill>
                <a:latin typeface="微软雅黑"/>
              </a:rPr>
              <a:t>两条路线共用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000" y="2770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0000" y="3155000"/>
            <a:ext cx="50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41894" y="3215000"/>
            <a:ext cx="3673788" cy="41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01894" y="3255000"/>
            <a:ext cx="3553788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路线A: IXFeatureStore 端到端验证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81364" y="3285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8B4C"/>
                </a:solidFill>
                <a:latin typeface="微软雅黑"/>
              </a:rPr>
              <a:t>cuFile 保底路线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000" y="3315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0000" y="3700000"/>
            <a:ext cx="500000" cy="530000"/>
          </a:xfrm>
          <a:prstGeom prst="rect">
            <a:avLst/>
          </a:prstGeom>
          <a:solidFill>
            <a:srgbClr val="F0F8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25682" y="3760000"/>
            <a:ext cx="3673788" cy="41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85682" y="3800000"/>
            <a:ext cx="3553788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路线A: 性能调优 + 多SSD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81364" y="3830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8B4C"/>
                </a:solidFill>
                <a:latin typeface="微软雅黑"/>
              </a:rPr>
              <a:t>Window Buffer / Accumulator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000" y="3860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0000" y="4245000"/>
            <a:ext cx="50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41894" y="4305000"/>
            <a:ext cx="3673788" cy="41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01894" y="4345000"/>
            <a:ext cx="3553788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路线B: libnvm.ko 内核模块移植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81364" y="4375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6C1"/>
                </a:solidFill>
                <a:latin typeface="微软雅黑"/>
              </a:rPr>
              <a:t>仅 YES 情况下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" y="4405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0000" y="4790000"/>
            <a:ext cx="500000" cy="530000"/>
          </a:xfrm>
          <a:prstGeom prst="rect">
            <a:avLst/>
          </a:prstGeom>
          <a:solidFill>
            <a:srgbClr val="F0F8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25682" y="4850000"/>
            <a:ext cx="3673788" cy="41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85682" y="4890000"/>
            <a:ext cx="3553788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路线B: bam_ptr 端到端集成验证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81364" y="4920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86C1"/>
                </a:solidFill>
                <a:latin typeface="微软雅黑"/>
              </a:rPr>
              <a:t>仅 YES 情况下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0000" y="4950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0000" y="5335000"/>
            <a:ext cx="500000" cy="5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09470" y="5395000"/>
            <a:ext cx="1831894" cy="410000"/>
          </a:xfrm>
          <a:prstGeom prst="rect">
            <a:avLst/>
          </a:prstGeom>
          <a:solidFill>
            <a:srgbClr val="1B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69470" y="5435000"/>
            <a:ext cx="1711894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性能基准测试 + 汇报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81364" y="5465000"/>
            <a:ext cx="10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F4A"/>
                </a:solidFill>
                <a:latin typeface="微软雅黑"/>
              </a:rPr>
              <a:t>两条路线均需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0000" y="5495000"/>
            <a:ext cx="460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A9BAA"/>
                </a:solidFill>
                <a:latin typeface="微软雅黑"/>
              </a:rPr>
              <a:t>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0000" y="5980000"/>
            <a:ext cx="300000" cy="20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000" y="6010000"/>
            <a:ext cx="2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两条路线共用 / 路线A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0000" y="0"/>
            <a:ext cx="300000" cy="20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0000" y="30000"/>
            <a:ext cx="2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仅路线B（条件：YES）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0000" y="0"/>
            <a:ext cx="300000" cy="2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000" y="30000"/>
            <a:ext cx="2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决策节点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0000" y="0"/>
            <a:ext cx="300000" cy="200000"/>
          </a:xfrm>
          <a:prstGeom prst="rect">
            <a:avLst/>
          </a:prstGeom>
          <a:solidFill>
            <a:srgbClr val="1B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0000" y="30000"/>
            <a:ext cx="22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里程碑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0000" y="6350000"/>
            <a:ext cx="1143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A6A"/>
                </a:solidFill>
                <a:latin typeface="微软雅黑"/>
              </a:rPr>
              <a:t>图例：  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0000" y="6400000"/>
            <a:ext cx="200000" cy="200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0000" y="6405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共用/路线A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00000" y="6400000"/>
            <a:ext cx="200000" cy="20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860000" y="6405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仅路线B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0000" y="6400000"/>
            <a:ext cx="200000" cy="2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60000" y="6405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决策节点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00000" y="6400000"/>
            <a:ext cx="200000" cy="200000"/>
          </a:xfrm>
          <a:prstGeom prst="rect">
            <a:avLst/>
          </a:prstGeom>
          <a:solidFill>
            <a:srgbClr val="1B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860000" y="6405000"/>
            <a:ext cx="25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里程碑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当前已完成工作（不论选哪条路线都有用）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6400000"/>
            <a:ext cx="1143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CAE0"/>
                </a:solidFill>
                <a:latin typeface="微软雅黑"/>
              </a:rPr>
              <a:t>Work already done — valuable for both routes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700000"/>
            <a:ext cx="5700000" cy="1250000"/>
          </a:xfrm>
          <a:prstGeom prst="rect">
            <a:avLst/>
          </a:prstGeom>
          <a:solidFill>
            <a:srgbClr val="E8F8F0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000" y="78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B4C"/>
                </a:solidFill>
                <a:latin typeface="微软雅黑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80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GIDS 全源码架构分析完成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120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gids_kernel.cu / gids_nvme.cu / GIDS.py 深度分析，所有依赖清单梳理完毕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0000" y="700000"/>
            <a:ext cx="5700000" cy="1250000"/>
          </a:xfrm>
          <a:prstGeom prst="rect">
            <a:avLst/>
          </a:prstGeom>
          <a:solidFill>
            <a:srgbClr val="E8F8F0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0000" y="78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B4C"/>
                </a:solidFill>
                <a:latin typeface="微软雅黑"/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0000" y="80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bam_ptr 适配可行性分析完成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0000" y="120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三层障碍（simt::atomic / nv-p2p.h / NVMe BAR）全部识别，每层均有具体适配方案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000" y="2050000"/>
            <a:ext cx="5700000" cy="1250000"/>
          </a:xfrm>
          <a:prstGeom prst="rect">
            <a:avLst/>
          </a:prstGeom>
          <a:solidFill>
            <a:srgbClr val="E8F8F0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000" y="213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B4C"/>
                </a:solidFill>
                <a:latin typeface="微软雅黑"/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000" y="215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&lt;&lt;&lt;&gt;&gt;&gt; 语法支持确认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00" y="255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Corex ixc host_runtime.h 验证，原生支持，无需任何修改，消除原顾虑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0000" y="2050000"/>
            <a:ext cx="5700000" cy="1250000"/>
          </a:xfrm>
          <a:prstGeom prst="rect">
            <a:avLst/>
          </a:prstGeom>
          <a:solidFill>
            <a:srgbClr val="E8F8F0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0000" y="213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B4C"/>
                </a:solidFill>
                <a:latin typeface="微软雅黑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0000" y="215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simt::atomic → cuda::atomic 方案确认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0000" y="255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Corex cuda/std/atomic 验证，thread_scope_device 完全支持，已有替换命令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000" y="3400000"/>
            <a:ext cx="5700000" cy="1250000"/>
          </a:xfrm>
          <a:prstGeom prst="rect">
            <a:avLst/>
          </a:prstGeom>
          <a:solidFill>
            <a:srgbClr val="E8F8F0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000" y="348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B4C"/>
                </a:solidFill>
                <a:latin typeface="微软雅黑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000" y="350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路线A: IXFeatureStore 核心代码完成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000" y="390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ix_feature_store.cu (~450行) + GIDS_IX.py + build_ix.sh + run.sh 全部就绪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0000" y="3400000"/>
            <a:ext cx="5700000" cy="1250000"/>
          </a:xfrm>
          <a:prstGeom prst="rect">
            <a:avLst/>
          </a:prstGeom>
          <a:solidFill>
            <a:srgbClr val="E8F8F0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0000" y="348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B4C"/>
                </a:solidFill>
                <a:latin typeface="微软雅黑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0000" y="350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基础设施全部就绪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0000" y="390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itrfs.ko 已加载 / /dev/itrfs 就绪 / cooperative_groups 补丁部署 / Corex 4.5.0 SDK 全部安装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0000" y="4750000"/>
            <a:ext cx="5700000" cy="1250000"/>
          </a:xfrm>
          <a:prstGeom prst="rect">
            <a:avLst/>
          </a:prstGeom>
          <a:solidFill>
            <a:srgbClr val="E8F8F0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000" y="483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8B4C"/>
                </a:solidFill>
                <a:latin typeface="微软雅黑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000" y="485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8B4C"/>
                </a:solidFill>
                <a:latin typeface="微软雅黑"/>
              </a:rPr>
              <a:t>DGL v1.1.3 编译 6 项问题修复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000" y="525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-Xcompiler格式 / fp16.cuh重定义 / CCCL禁用 / omp.h路径 / array_iterator / gpu_cache禁用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0000" y="4750000"/>
            <a:ext cx="5700000" cy="1250000"/>
          </a:xfrm>
          <a:prstGeom prst="rect">
            <a:avLst/>
          </a:prstGeom>
          <a:solidFill>
            <a:srgbClr val="E8F6FD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0000" y="483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86C1"/>
                </a:solidFill>
                <a:latin typeface="微软雅黑"/>
              </a:rPr>
              <a:t>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0000" y="4850000"/>
            <a:ext cx="493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6C1"/>
                </a:solidFill>
                <a:latin typeface="微软雅黑"/>
              </a:rPr>
              <a:t>DGL CUDA 版编译进行中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0000" y="5250000"/>
            <a:ext cx="493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主库 ~90% 完成，gpu_cache 禁用绕过，预计本周内完成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000" y="3424000"/>
            <a:ext cx="11991365" cy="8000"/>
          </a:xfrm>
          <a:prstGeom prst="rect">
            <a:avLst/>
          </a:prstGeom>
          <a:solidFill>
            <a:srgbClr val="25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800000"/>
            <a:ext cx="40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>
                <a:solidFill>
                  <a:srgbClr val="51B9D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3200000"/>
            <a:ext cx="11391365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/>
              </a:rPr>
              <a:t>结论与建议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4100000"/>
            <a:ext cx="113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7AB3D0"/>
                </a:solidFill>
                <a:latin typeface="微软雅黑"/>
              </a:rPr>
              <a:t>Recommendation &amp; Decision Points for Leadership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48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80000"/>
            <a:ext cx="12191365" cy="60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80000"/>
            <a:ext cx="11431365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本次会议需要决策的三件事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6400000"/>
            <a:ext cx="11431365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0CAE0"/>
                </a:solidFill>
                <a:latin typeface="微软雅黑"/>
              </a:rPr>
              <a:t>Three decisions needed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80000" y="680000"/>
            <a:ext cx="11431365" cy="1830000"/>
          </a:xfrm>
          <a:prstGeom prst="rect">
            <a:avLst/>
          </a:prstGeom>
          <a:solidFill>
            <a:srgbClr val="F8FB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0000" y="680000"/>
            <a:ext cx="600000" cy="183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000" y="880000"/>
            <a:ext cx="4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决策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00" y="760000"/>
            <a:ext cx="4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微软雅黑"/>
              </a:rPr>
              <a:t>硬件团队确认任务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00" y="115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由谁负责、何时向 Iluvatar 硬件/驱动团队提出以下问题并回答：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00" y="1440000"/>
            <a:ext cx="65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"IX GPU kernel 线程能否通过 PCIe 向 NVMe 控制器 BAR 写入数据？"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"libnvm 内核模块是否可在 Linux 5.4 + Corex 驱动上编译？"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"Corex 是否有内核侧 GPU P2P DMA API（对标 nv-p2p.h）？"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760000"/>
            <a:ext cx="3991365" cy="35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50000" y="800000"/>
            <a:ext cx="3891365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0000" y="1180000"/>
            <a:ext cx="3991365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微软雅黑"/>
              </a:rPr>
              <a:t>建议：本周内（2 个工作日）给出答复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0000" y="2630000"/>
            <a:ext cx="11431365" cy="1830000"/>
          </a:xfrm>
          <a:prstGeom prst="rect">
            <a:avLst/>
          </a:prstGeom>
          <a:solidFill>
            <a:srgbClr val="F8FBFF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000" y="2630000"/>
            <a:ext cx="600000" cy="183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000" y="2830000"/>
            <a:ext cx="4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决策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00" y="2710000"/>
            <a:ext cx="4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微软雅黑"/>
              </a:rPr>
              <a:t>资源分配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000" y="310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双轨并行需要明确人员分工：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000" y="3390000"/>
            <a:ext cx="65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路线A（cuFile）：由谁负责 DGL 编译 + 端到端验证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路线B（bam_ptr）：由谁负责内核模块移植和 GPU 硬件验证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两条线是否同一人，还是分两组并行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00000" y="2710000"/>
            <a:ext cx="3991365" cy="35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0000" y="2750000"/>
            <a:ext cx="3891365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0000" y="3130000"/>
            <a:ext cx="3991365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7E22"/>
                </a:solidFill>
                <a:latin typeface="微软雅黑"/>
              </a:rPr>
              <a:t>建议：路线A 1人主导，路线B 需 1 名内核/驱动背景工程师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0000" y="4580000"/>
            <a:ext cx="11431365" cy="1830000"/>
          </a:xfrm>
          <a:prstGeom prst="rect">
            <a:avLst/>
          </a:prstGeom>
          <a:solidFill>
            <a:srgbClr val="F8FBFF"/>
          </a:solidFill>
          <a:ln w="317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0000" y="4580000"/>
            <a:ext cx="600000" cy="183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000" y="4780000"/>
            <a:ext cx="49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决策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000" y="4660000"/>
            <a:ext cx="4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微软雅黑"/>
              </a:rPr>
              <a:t>里程碑与汇报节点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000" y="5050000"/>
            <a:ext cx="4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A6A"/>
                </a:solidFill>
                <a:latin typeface="微软雅黑"/>
              </a:rPr>
              <a:t>确定关键时间节点：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000" y="5340000"/>
            <a:ext cx="65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T+3天：硬件团队给出 IX GPU PCIe peer write 答复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T+1周：路线A 端到端训练跑通（DGL 编译完成后）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T+3周：性能基准测试数据（对比 mmap 基线）</a:t>
            </a:r>
          </a:p>
          <a:p>
            <a:pPr algn="l"/>
            <a:r>
              <a:rPr sz="1100" b="0">
                <a:solidFill>
                  <a:srgbClr val="4A5A6A"/>
                </a:solidFill>
                <a:latin typeface="微软雅黑"/>
              </a:rPr>
              <a:t>  • T+6周：最终方案确认 + 完整性能报告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0000" y="4660000"/>
            <a:ext cx="3991365" cy="350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50000" y="4700000"/>
            <a:ext cx="3891365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建议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0000" y="5080000"/>
            <a:ext cx="3991365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86C1"/>
                </a:solidFill>
                <a:latin typeface="微软雅黑"/>
              </a:rPr>
              <a:t>建议：3 天内先拿到硬件答复，再确定总体工期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0D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365" cy="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0000"/>
            <a:ext cx="12191365" cy="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51B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1500000"/>
            <a:ext cx="1119136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7AB8D5"/>
                </a:solidFill>
                <a:latin typeface="微软雅黑"/>
              </a:rPr>
              <a:t>一句话总结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2300000"/>
            <a:ext cx="11191365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路线A（cuFile）已就绪，1~2周可端到端跑通
路线B（bam_ptr）技术可行，但需先确认 IX GPU 是否支持 PCIe peer write 到 NVMe 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3800000"/>
            <a:ext cx="11191365" cy="6000"/>
          </a:xfrm>
          <a:prstGeom prst="rect">
            <a:avLst/>
          </a:prstGeom>
          <a:solidFill>
            <a:srgbClr val="2E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4000000"/>
            <a:ext cx="1119136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1B9D6"/>
                </a:solidFill>
                <a:latin typeface="微软雅黑"/>
              </a:rPr>
              <a:t>最优策略：本周内拿到硬件确认，同步推进路线A保底 + 路线B评估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4700000"/>
            <a:ext cx="11191365" cy="480000"/>
          </a:xfrm>
          <a:prstGeom prst="rect">
            <a:avLst/>
          </a:prstGeom>
          <a:solidFill>
            <a:srgbClr val="1A355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00" y="4750000"/>
            <a:ext cx="2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微软雅黑"/>
              </a:rPr>
              <a:t>立即行动①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4750000"/>
            <a:ext cx="8891365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向 Iluvatar 提问：IX GPU PCIe peer write to NVMe BAR？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5220000"/>
            <a:ext cx="11191365" cy="480000"/>
          </a:xfrm>
          <a:prstGeom prst="rect">
            <a:avLst/>
          </a:prstGeom>
          <a:solidFill>
            <a:srgbClr val="1A3555"/>
          </a:solidFill>
          <a:ln w="19050">
            <a:solidFill>
              <a:srgbClr val="1E8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000" y="5270000"/>
            <a:ext cx="2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8B4C"/>
                </a:solidFill>
                <a:latin typeface="微软雅黑"/>
              </a:rPr>
              <a:t>立即行动②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5270000"/>
            <a:ext cx="8891365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继续推进 DGL 编译 + 路线A 端到端验证（本周内）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5740000"/>
            <a:ext cx="11191365" cy="480000"/>
          </a:xfrm>
          <a:prstGeom prst="rect">
            <a:avLst/>
          </a:prstGeom>
          <a:solidFill>
            <a:srgbClr val="1A3555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5790000"/>
            <a:ext cx="20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86C1"/>
                </a:solidFill>
                <a:latin typeface="微软雅黑"/>
              </a:rPr>
              <a:t>立即行动③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5790000"/>
            <a:ext cx="8891365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分配路线B内核模块工程师（等待硬件答复后启动）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6500000"/>
            <a:ext cx="11191365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7AA0"/>
                </a:solidFill>
                <a:latin typeface="微软雅黑"/>
              </a:rPr>
              <a:t>GIDS × Corex  |  Iluvatar GPU Platform  |  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